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6BB4DCE-5E6C-73FF-764B-E609850548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595742-413C-5881-5A57-F721139A0D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2334B-7C64-4565-AE47-CD4F4EC876A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0B66F11-E11D-49D0-403A-CB4E56335F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C24628-9FE8-7953-40E2-7AF6FBE41C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6C7DC-40A6-4DBC-BB1A-B08D563D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8433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102E7A-3004-956A-1EDE-788F5D614824}"/>
              </a:ext>
            </a:extLst>
          </p:cNvPr>
          <p:cNvSpPr>
            <a:spLocks noGrp="1"/>
          </p:cNvSpPr>
          <p:nvPr userDrawn="1"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4EFB4E8-8467-31DF-025C-DD05897D0BCF}"/>
              </a:ext>
            </a:extLst>
          </p:cNvPr>
          <p:cNvSpPr>
            <a:spLocks noGrp="1"/>
          </p:cNvSpPr>
          <p:nvPr userDrawn="1"/>
        </p:nvSpPr>
        <p:spPr>
          <a:xfrm>
            <a:off x="76962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8E2833-5136-82D6-0F5E-497115F624B8}"/>
              </a:ext>
            </a:extLst>
          </p:cNvPr>
          <p:cNvSpPr>
            <a:spLocks noGrp="1"/>
          </p:cNvSpPr>
          <p:nvPr userDrawn="1"/>
        </p:nvSpPr>
        <p:spPr>
          <a:xfrm>
            <a:off x="81534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7286E8-679A-032D-B76B-1CD5C1E08C3E}"/>
              </a:ext>
            </a:extLst>
          </p:cNvPr>
          <p:cNvSpPr>
            <a:spLocks noGrp="1"/>
          </p:cNvSpPr>
          <p:nvPr userDrawn="1"/>
        </p:nvSpPr>
        <p:spPr>
          <a:xfrm>
            <a:off x="86106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B94EF6C-B791-D55A-8DC6-390C1BBBFD02}"/>
              </a:ext>
            </a:extLst>
          </p:cNvPr>
          <p:cNvSpPr>
            <a:spLocks noGrp="1"/>
          </p:cNvSpPr>
          <p:nvPr userDrawn="1"/>
        </p:nvSpPr>
        <p:spPr>
          <a:xfrm>
            <a:off x="90678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F2DB1E5-8744-F46F-CEE8-B7333CB5B473}"/>
              </a:ext>
            </a:extLst>
          </p:cNvPr>
          <p:cNvSpPr>
            <a:spLocks noGrp="1"/>
          </p:cNvSpPr>
          <p:nvPr userDrawn="1"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5D4A079-7CF3-1858-D4AC-5E82FED4C82F}"/>
              </a:ext>
            </a:extLst>
          </p:cNvPr>
          <p:cNvSpPr>
            <a:spLocks noGrp="1"/>
          </p:cNvSpPr>
          <p:nvPr userDrawn="1"/>
        </p:nvSpPr>
        <p:spPr>
          <a:xfrm>
            <a:off x="99822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A6063D1-AF1D-6BB5-63CA-BF716366A358}"/>
              </a:ext>
            </a:extLst>
          </p:cNvPr>
          <p:cNvSpPr>
            <a:spLocks noGrp="1"/>
          </p:cNvSpPr>
          <p:nvPr userDrawn="1"/>
        </p:nvSpPr>
        <p:spPr>
          <a:xfrm>
            <a:off x="104394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3B142EC-3363-FD13-5ECA-2BD5B20E82E1}"/>
              </a:ext>
            </a:extLst>
          </p:cNvPr>
          <p:cNvSpPr>
            <a:spLocks noGrp="1"/>
          </p:cNvSpPr>
          <p:nvPr userDrawn="1"/>
        </p:nvSpPr>
        <p:spPr>
          <a:xfrm>
            <a:off x="108966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D87E473-AB91-3D2F-F72B-E0EA0F17A96D}"/>
              </a:ext>
            </a:extLst>
          </p:cNvPr>
          <p:cNvSpPr>
            <a:spLocks noGrp="1"/>
          </p:cNvSpPr>
          <p:nvPr userDrawn="1"/>
        </p:nvSpPr>
        <p:spPr>
          <a:xfrm>
            <a:off x="113538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E9B496F-EE8E-C2F5-97AC-9C562E0A1C6D}"/>
              </a:ext>
            </a:extLst>
          </p:cNvPr>
          <p:cNvSpPr>
            <a:spLocks noGrp="1"/>
          </p:cNvSpPr>
          <p:nvPr userDrawn="1"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E7AE64F-2FEB-5E86-373F-7C3B16375939}"/>
              </a:ext>
            </a:extLst>
          </p:cNvPr>
          <p:cNvSpPr>
            <a:spLocks noGrp="1"/>
          </p:cNvSpPr>
          <p:nvPr userDrawn="1"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E71C59D-498B-F51E-D58A-665C09E8C585}"/>
              </a:ext>
            </a:extLst>
          </p:cNvPr>
          <p:cNvSpPr>
            <a:spLocks noGrp="1"/>
          </p:cNvSpPr>
          <p:nvPr userDrawn="1"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4BCDE4D-6868-7EAD-9E2A-93F450942598}"/>
              </a:ext>
            </a:extLst>
          </p:cNvPr>
          <p:cNvSpPr>
            <a:spLocks noGrp="1"/>
          </p:cNvSpPr>
          <p:nvPr userDrawn="1"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EFF2465-CE6C-9F2F-1D38-D50C6C3771F0}"/>
              </a:ext>
            </a:extLst>
          </p:cNvPr>
          <p:cNvSpPr>
            <a:spLocks noGrp="1"/>
          </p:cNvSpPr>
          <p:nvPr userDrawn="1"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B157558-B905-83D1-14F7-063D8F1ECD11}"/>
              </a:ext>
            </a:extLst>
          </p:cNvPr>
          <p:cNvSpPr>
            <a:spLocks noGrp="1"/>
          </p:cNvSpPr>
          <p:nvPr userDrawn="1"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0DCE6DB-678E-CA59-AC3C-600A626C22FE}"/>
              </a:ext>
            </a:extLst>
          </p:cNvPr>
          <p:cNvSpPr>
            <a:spLocks noGrp="1"/>
          </p:cNvSpPr>
          <p:nvPr userDrawn="1"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45A2F92-44CB-C6C8-0100-180E428758E7}"/>
              </a:ext>
            </a:extLst>
          </p:cNvPr>
          <p:cNvSpPr>
            <a:spLocks noGrp="1"/>
          </p:cNvSpPr>
          <p:nvPr userDrawn="1"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250961-5823-959C-3C9A-19575E67835F}"/>
              </a:ext>
            </a:extLst>
          </p:cNvPr>
          <p:cNvSpPr>
            <a:spLocks noGrp="1"/>
          </p:cNvSpPr>
          <p:nvPr userDrawn="1"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3E889B0-7BA9-A6BA-45DE-A94D91F5CFC9}"/>
              </a:ext>
            </a:extLst>
          </p:cNvPr>
          <p:cNvSpPr>
            <a:spLocks noGrp="1"/>
          </p:cNvSpPr>
          <p:nvPr userDrawn="1"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34192A2-FFB3-9CA1-6E90-6C6403009D3B}"/>
              </a:ext>
            </a:extLst>
          </p:cNvPr>
          <p:cNvSpPr>
            <a:spLocks noGrp="1"/>
          </p:cNvSpPr>
          <p:nvPr userDrawn="1"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717B960-19CD-CCEC-7399-B69ABC44F00A}"/>
              </a:ext>
            </a:extLst>
          </p:cNvPr>
          <p:cNvSpPr>
            <a:spLocks noGrp="1"/>
          </p:cNvSpPr>
          <p:nvPr userDrawn="1"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D8DEE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17BE9F6-EA37-5DF0-9655-00879522F01A}"/>
              </a:ext>
            </a:extLst>
          </p:cNvPr>
          <p:cNvSpPr>
            <a:spLocks noGrp="1"/>
          </p:cNvSpPr>
          <p:nvPr userDrawn="1"/>
        </p:nvSpPr>
        <p:spPr>
          <a:xfrm>
            <a:off x="495300" y="63627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8A929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825" b="0" dirty="0">
                <a:solidFill>
                  <a:srgbClr val="8A929A"/>
                </a:solidFill>
                <a:latin typeface="Yu Gothic"/>
                <a:ea typeface="Yu Gothic"/>
                <a:cs typeface="Yu Gothic"/>
              </a:rPr>
              <a:t>Sample / Confidential</a:t>
            </a:r>
            <a:endParaRPr sz="825" b="0" dirty="0">
              <a:solidFill>
                <a:srgbClr val="8A929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AAC5663-E1E0-254F-0434-EF610A01B966}"/>
              </a:ext>
            </a:extLst>
          </p:cNvPr>
          <p:cNvSpPr>
            <a:spLocks noGrp="1"/>
          </p:cNvSpPr>
          <p:nvPr userDrawn="1"/>
        </p:nvSpPr>
        <p:spPr>
          <a:xfrm>
            <a:off x="11232491" y="6362700"/>
            <a:ext cx="48325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fld id="{2C00CC29-336A-4078-97A4-8B2003F10C98}" type="slidenum">
              <a:rPr lang="en-US" altLang="ja-JP" sz="750" b="0" smtClean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‹#›</a:t>
            </a:fld>
            <a:endParaRPr sz="750" b="0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A4B55EC-C9DE-7748-9C54-80754883CD44}"/>
              </a:ext>
            </a:extLst>
          </p:cNvPr>
          <p:cNvSpPr>
            <a:spLocks noGrp="1"/>
          </p:cNvSpPr>
          <p:nvPr userDrawn="1"/>
        </p:nvSpPr>
        <p:spPr>
          <a:xfrm>
            <a:off x="9534525" y="323850"/>
            <a:ext cx="22574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00" b="0" dirty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ClavisFlow</a:t>
            </a:r>
            <a:r>
              <a:rPr lang="en-US" sz="900" b="0" dirty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en-US" sz="900" b="0" dirty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システム診断レポート</a:t>
            </a:r>
            <a:endParaRPr sz="900" b="0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689210-0561-402D-8247-8D5ACCF9A5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00875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82000">
                <a:srgbClr val="F8FAFC"/>
              </a:gs>
              <a:gs pos="100000">
                <a:srgbClr val="F8FAFC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47" name="Rounded Rectangle 7">
            <a:extLst>
              <a:ext uri="{FF2B5EF4-FFF2-40B4-BE49-F238E27FC236}">
                <a16:creationId xmlns:a16="http://schemas.microsoft.com/office/drawing/2014/main" id="{38D99E76-FAA8-24FD-E4FA-853A6F961947}"/>
              </a:ext>
            </a:extLst>
          </p:cNvPr>
          <p:cNvSpPr/>
          <p:nvPr/>
        </p:nvSpPr>
        <p:spPr>
          <a:xfrm>
            <a:off x="552450" y="3659691"/>
            <a:ext cx="4668674" cy="1409150"/>
          </a:xfrm>
          <a:prstGeom prst="roundRect">
            <a:avLst/>
          </a:prstGeom>
          <a:solidFill>
            <a:srgbClr val="F8FAF8"/>
          </a:solidFill>
          <a:ln>
            <a:solidFill>
              <a:srgbClr val="DC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73FE60-8ADF-4631-AE22-C6D67C949022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36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システム診断レポート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94115A-B3E9-4420-BCEC-5EAD91CFE05E}"/>
              </a:ext>
            </a:extLst>
          </p:cNvPr>
          <p:cNvSpPr>
            <a:spLocks noGrp="1"/>
          </p:cNvSpPr>
          <p:nvPr/>
        </p:nvSpPr>
        <p:spPr>
          <a:xfrm>
            <a:off x="552450" y="19812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350" b="1" dirty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Legacy System Assessment Report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CC939DC-6AA9-45A0-B303-2B11B6A173C1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1C5FA4D-3DC7-45B8-A9EF-FE7C55227FC6}"/>
              </a:ext>
            </a:extLst>
          </p:cNvPr>
          <p:cNvSpPr>
            <a:spLocks noGrp="1"/>
          </p:cNvSpPr>
          <p:nvPr/>
        </p:nvSpPr>
        <p:spPr>
          <a:xfrm>
            <a:off x="552450" y="30289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8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現状を整理し、次の一歩を見つけるための診断レポート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A70605-B33D-4D15-8436-B1AF0C470C96}"/>
              </a:ext>
            </a:extLst>
          </p:cNvPr>
          <p:cNvSpPr>
            <a:spLocks noGrp="1"/>
          </p:cNvSpPr>
          <p:nvPr/>
        </p:nvSpPr>
        <p:spPr>
          <a:xfrm>
            <a:off x="708793" y="4116764"/>
            <a:ext cx="3930611" cy="523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ja-JP" altLang="en-US" sz="1400" dirty="0">
                <a:latin typeface="Yu Gothic"/>
                <a:ea typeface="Yu Gothic"/>
              </a:rPr>
              <a:t>〇〇株式会社　</a:t>
            </a:r>
            <a:r>
              <a:rPr sz="1400" dirty="0">
                <a:latin typeface="Yu Gothic"/>
                <a:ea typeface="Yu Gothic"/>
              </a:rPr>
              <a:t>販売管理システム</a:t>
            </a:r>
          </a:p>
          <a:p>
            <a:r>
              <a:rPr sz="1400" dirty="0">
                <a:latin typeface="Yu Gothic"/>
                <a:ea typeface="Yu Gothic"/>
              </a:rPr>
              <a:t>VB6 / Access / SQL Server / Excel VBA</a:t>
            </a:r>
          </a:p>
        </p:txBody>
      </p:sp>
      <p:grpSp>
        <p:nvGrpSpPr>
          <p:cNvPr id="20" name="Google Shape;24;p4">
            <a:extLst>
              <a:ext uri="{FF2B5EF4-FFF2-40B4-BE49-F238E27FC236}">
                <a16:creationId xmlns:a16="http://schemas.microsoft.com/office/drawing/2014/main" id="{10BF3578-A076-DDCD-1D4E-511D9A00B214}"/>
              </a:ext>
            </a:extLst>
          </p:cNvPr>
          <p:cNvGrpSpPr/>
          <p:nvPr/>
        </p:nvGrpSpPr>
        <p:grpSpPr>
          <a:xfrm>
            <a:off x="9461059" y="4367208"/>
            <a:ext cx="1873691" cy="1533674"/>
            <a:chOff x="5791131" y="1800348"/>
            <a:chExt cx="4837936" cy="3960000"/>
          </a:xfrm>
        </p:grpSpPr>
        <p:sp>
          <p:nvSpPr>
            <p:cNvPr id="21" name="Google Shape;25;p4">
              <a:extLst>
                <a:ext uri="{FF2B5EF4-FFF2-40B4-BE49-F238E27FC236}">
                  <a16:creationId xmlns:a16="http://schemas.microsoft.com/office/drawing/2014/main" id="{020E6242-48F9-2A6E-B9F1-010CB0E09CD9}"/>
                </a:ext>
              </a:extLst>
            </p:cNvPr>
            <p:cNvSpPr/>
            <p:nvPr/>
          </p:nvSpPr>
          <p:spPr>
            <a:xfrm>
              <a:off x="6996686" y="3977715"/>
              <a:ext cx="2978715" cy="1782633"/>
            </a:xfrm>
            <a:custGeom>
              <a:avLst/>
              <a:gdLst/>
              <a:ahLst/>
              <a:cxnLst/>
              <a:rect l="l" t="t" r="r" b="b"/>
              <a:pathLst>
                <a:path w="2978715" h="1782633" extrusionOk="0">
                  <a:moveTo>
                    <a:pt x="1910790" y="0"/>
                  </a:moveTo>
                  <a:cubicBezTo>
                    <a:pt x="2252516" y="0"/>
                    <a:pt x="2574023" y="86570"/>
                    <a:pt x="2854576" y="238975"/>
                  </a:cubicBezTo>
                  <a:lnTo>
                    <a:pt x="2978715" y="314392"/>
                  </a:lnTo>
                  <a:lnTo>
                    <a:pt x="2958908" y="391425"/>
                  </a:lnTo>
                  <a:cubicBezTo>
                    <a:pt x="2708217" y="1197421"/>
                    <a:pt x="1956414" y="1782633"/>
                    <a:pt x="1067925" y="1782633"/>
                  </a:cubicBezTo>
                  <a:cubicBezTo>
                    <a:pt x="726199" y="1782633"/>
                    <a:pt x="404692" y="1696063"/>
                    <a:pt x="124140" y="1543658"/>
                  </a:cubicBezTo>
                  <a:lnTo>
                    <a:pt x="0" y="1468241"/>
                  </a:lnTo>
                  <a:lnTo>
                    <a:pt x="19807" y="1391209"/>
                  </a:lnTo>
                  <a:cubicBezTo>
                    <a:pt x="270498" y="585213"/>
                    <a:pt x="1022302" y="0"/>
                    <a:pt x="1910790" y="0"/>
                  </a:cubicBezTo>
                  <a:close/>
                </a:path>
              </a:pathLst>
            </a:cu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6;p4">
              <a:extLst>
                <a:ext uri="{FF2B5EF4-FFF2-40B4-BE49-F238E27FC236}">
                  <a16:creationId xmlns:a16="http://schemas.microsoft.com/office/drawing/2014/main" id="{5456D868-ABD8-8A12-8266-056762FF888B}"/>
                </a:ext>
              </a:extLst>
            </p:cNvPr>
            <p:cNvSpPr/>
            <p:nvPr/>
          </p:nvSpPr>
          <p:spPr>
            <a:xfrm>
              <a:off x="6103347" y="1800348"/>
              <a:ext cx="3960000" cy="3960000"/>
            </a:xfrm>
            <a:prstGeom prst="ellipse">
              <a:avLst/>
            </a:prstGeom>
            <a:solidFill>
              <a:srgbClr val="FFCB25">
                <a:alpha val="4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7;p4">
              <a:extLst>
                <a:ext uri="{FF2B5EF4-FFF2-40B4-BE49-F238E27FC236}">
                  <a16:creationId xmlns:a16="http://schemas.microsoft.com/office/drawing/2014/main" id="{48927401-8F0D-E256-BD0B-CF0E177FAE82}"/>
                </a:ext>
              </a:extLst>
            </p:cNvPr>
            <p:cNvSpPr/>
            <p:nvPr/>
          </p:nvSpPr>
          <p:spPr>
            <a:xfrm>
              <a:off x="6103347" y="3570304"/>
              <a:ext cx="2189507" cy="2190044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8;p4">
              <a:extLst>
                <a:ext uri="{FF2B5EF4-FFF2-40B4-BE49-F238E27FC236}">
                  <a16:creationId xmlns:a16="http://schemas.microsoft.com/office/drawing/2014/main" id="{E9A842C1-AFF3-4E66-FF95-C5B66347C596}"/>
                </a:ext>
              </a:extLst>
            </p:cNvPr>
            <p:cNvSpPr/>
            <p:nvPr/>
          </p:nvSpPr>
          <p:spPr>
            <a:xfrm>
              <a:off x="8983320" y="2169032"/>
              <a:ext cx="1440000" cy="144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9;p4">
              <a:extLst>
                <a:ext uri="{FF2B5EF4-FFF2-40B4-BE49-F238E27FC236}">
                  <a16:creationId xmlns:a16="http://schemas.microsoft.com/office/drawing/2014/main" id="{6F10AFDD-02C8-9403-42D0-8BEDF3FFA27C}"/>
                </a:ext>
              </a:extLst>
            </p:cNvPr>
            <p:cNvSpPr/>
            <p:nvPr/>
          </p:nvSpPr>
          <p:spPr>
            <a:xfrm>
              <a:off x="8727501" y="1887571"/>
              <a:ext cx="720000" cy="72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30;p4">
              <a:extLst>
                <a:ext uri="{FF2B5EF4-FFF2-40B4-BE49-F238E27FC236}">
                  <a16:creationId xmlns:a16="http://schemas.microsoft.com/office/drawing/2014/main" id="{B7580C8D-8B81-D919-6926-BD06183754AC}"/>
                </a:ext>
              </a:extLst>
            </p:cNvPr>
            <p:cNvSpPr/>
            <p:nvPr/>
          </p:nvSpPr>
          <p:spPr>
            <a:xfrm>
              <a:off x="9644936" y="1989032"/>
              <a:ext cx="360000" cy="36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31;p4">
              <a:extLst>
                <a:ext uri="{FF2B5EF4-FFF2-40B4-BE49-F238E27FC236}">
                  <a16:creationId xmlns:a16="http://schemas.microsoft.com/office/drawing/2014/main" id="{58400F70-7F87-B0A7-C984-D0EACAF6976E}"/>
                </a:ext>
              </a:extLst>
            </p:cNvPr>
            <p:cNvSpPr/>
            <p:nvPr/>
          </p:nvSpPr>
          <p:spPr>
            <a:xfrm>
              <a:off x="10269067" y="3614675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32;p4">
              <a:extLst>
                <a:ext uri="{FF2B5EF4-FFF2-40B4-BE49-F238E27FC236}">
                  <a16:creationId xmlns:a16="http://schemas.microsoft.com/office/drawing/2014/main" id="{9F10AAF2-A950-566A-8516-6F04B5988873}"/>
                </a:ext>
              </a:extLst>
            </p:cNvPr>
            <p:cNvSpPr/>
            <p:nvPr/>
          </p:nvSpPr>
          <p:spPr>
            <a:xfrm>
              <a:off x="6191293" y="4390673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33;p4">
              <a:extLst>
                <a:ext uri="{FF2B5EF4-FFF2-40B4-BE49-F238E27FC236}">
                  <a16:creationId xmlns:a16="http://schemas.microsoft.com/office/drawing/2014/main" id="{E129DE14-24CF-F98F-0133-A6CC481D7794}"/>
                </a:ext>
              </a:extLst>
            </p:cNvPr>
            <p:cNvSpPr/>
            <p:nvPr/>
          </p:nvSpPr>
          <p:spPr>
            <a:xfrm>
              <a:off x="5791131" y="4179429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4;p4">
              <a:extLst>
                <a:ext uri="{FF2B5EF4-FFF2-40B4-BE49-F238E27FC236}">
                  <a16:creationId xmlns:a16="http://schemas.microsoft.com/office/drawing/2014/main" id="{23E0F856-6531-5C12-CFC7-71B115F46CDA}"/>
                </a:ext>
              </a:extLst>
            </p:cNvPr>
            <p:cNvSpPr/>
            <p:nvPr/>
          </p:nvSpPr>
          <p:spPr>
            <a:xfrm>
              <a:off x="9869048" y="3906960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24;p4">
            <a:extLst>
              <a:ext uri="{FF2B5EF4-FFF2-40B4-BE49-F238E27FC236}">
                <a16:creationId xmlns:a16="http://schemas.microsoft.com/office/drawing/2014/main" id="{D3D3C75C-05F6-07A6-6455-A70F2DD81838}"/>
              </a:ext>
            </a:extLst>
          </p:cNvPr>
          <p:cNvGrpSpPr/>
          <p:nvPr/>
        </p:nvGrpSpPr>
        <p:grpSpPr>
          <a:xfrm>
            <a:off x="7881773" y="3179521"/>
            <a:ext cx="1560791" cy="1260764"/>
            <a:chOff x="5791131" y="1800348"/>
            <a:chExt cx="4837936" cy="3960000"/>
          </a:xfrm>
        </p:grpSpPr>
        <p:sp>
          <p:nvSpPr>
            <p:cNvPr id="32" name="Google Shape;25;p4">
              <a:extLst>
                <a:ext uri="{FF2B5EF4-FFF2-40B4-BE49-F238E27FC236}">
                  <a16:creationId xmlns:a16="http://schemas.microsoft.com/office/drawing/2014/main" id="{1E48B43F-A933-FCBA-5B04-17350EACA7A6}"/>
                </a:ext>
              </a:extLst>
            </p:cNvPr>
            <p:cNvSpPr/>
            <p:nvPr/>
          </p:nvSpPr>
          <p:spPr>
            <a:xfrm>
              <a:off x="6996686" y="3977715"/>
              <a:ext cx="2978715" cy="1782633"/>
            </a:xfrm>
            <a:custGeom>
              <a:avLst/>
              <a:gdLst/>
              <a:ahLst/>
              <a:cxnLst/>
              <a:rect l="l" t="t" r="r" b="b"/>
              <a:pathLst>
                <a:path w="2978715" h="1782633" extrusionOk="0">
                  <a:moveTo>
                    <a:pt x="1910790" y="0"/>
                  </a:moveTo>
                  <a:cubicBezTo>
                    <a:pt x="2252516" y="0"/>
                    <a:pt x="2574023" y="86570"/>
                    <a:pt x="2854576" y="238975"/>
                  </a:cubicBezTo>
                  <a:lnTo>
                    <a:pt x="2978715" y="314392"/>
                  </a:lnTo>
                  <a:lnTo>
                    <a:pt x="2958908" y="391425"/>
                  </a:lnTo>
                  <a:cubicBezTo>
                    <a:pt x="2708217" y="1197421"/>
                    <a:pt x="1956414" y="1782633"/>
                    <a:pt x="1067925" y="1782633"/>
                  </a:cubicBezTo>
                  <a:cubicBezTo>
                    <a:pt x="726199" y="1782633"/>
                    <a:pt x="404692" y="1696063"/>
                    <a:pt x="124140" y="1543658"/>
                  </a:cubicBezTo>
                  <a:lnTo>
                    <a:pt x="0" y="1468241"/>
                  </a:lnTo>
                  <a:lnTo>
                    <a:pt x="19807" y="1391209"/>
                  </a:lnTo>
                  <a:cubicBezTo>
                    <a:pt x="270498" y="585213"/>
                    <a:pt x="1022302" y="0"/>
                    <a:pt x="1910790" y="0"/>
                  </a:cubicBezTo>
                  <a:close/>
                </a:path>
              </a:pathLst>
            </a:cu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6;p4">
              <a:extLst>
                <a:ext uri="{FF2B5EF4-FFF2-40B4-BE49-F238E27FC236}">
                  <a16:creationId xmlns:a16="http://schemas.microsoft.com/office/drawing/2014/main" id="{6FF0F1BD-B23C-BFD8-744C-04B11C9B0831}"/>
                </a:ext>
              </a:extLst>
            </p:cNvPr>
            <p:cNvSpPr/>
            <p:nvPr/>
          </p:nvSpPr>
          <p:spPr>
            <a:xfrm>
              <a:off x="6103347" y="1800348"/>
              <a:ext cx="3960000" cy="3960000"/>
            </a:xfrm>
            <a:prstGeom prst="ellipse">
              <a:avLst/>
            </a:prstGeom>
            <a:solidFill>
              <a:srgbClr val="FFCB25">
                <a:alpha val="4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7;p4">
              <a:extLst>
                <a:ext uri="{FF2B5EF4-FFF2-40B4-BE49-F238E27FC236}">
                  <a16:creationId xmlns:a16="http://schemas.microsoft.com/office/drawing/2014/main" id="{F45D3188-C736-5BF5-828F-653F1AD7373E}"/>
                </a:ext>
              </a:extLst>
            </p:cNvPr>
            <p:cNvSpPr/>
            <p:nvPr/>
          </p:nvSpPr>
          <p:spPr>
            <a:xfrm>
              <a:off x="6103347" y="3570304"/>
              <a:ext cx="2189507" cy="2190044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;p4">
              <a:extLst>
                <a:ext uri="{FF2B5EF4-FFF2-40B4-BE49-F238E27FC236}">
                  <a16:creationId xmlns:a16="http://schemas.microsoft.com/office/drawing/2014/main" id="{E45D5B30-B14E-AFB1-9A9D-2464E5788209}"/>
                </a:ext>
              </a:extLst>
            </p:cNvPr>
            <p:cNvSpPr/>
            <p:nvPr/>
          </p:nvSpPr>
          <p:spPr>
            <a:xfrm>
              <a:off x="8983320" y="2169032"/>
              <a:ext cx="1440000" cy="144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9;p4">
              <a:extLst>
                <a:ext uri="{FF2B5EF4-FFF2-40B4-BE49-F238E27FC236}">
                  <a16:creationId xmlns:a16="http://schemas.microsoft.com/office/drawing/2014/main" id="{78BC192D-B0BF-F3D1-F055-8D50132825D6}"/>
                </a:ext>
              </a:extLst>
            </p:cNvPr>
            <p:cNvSpPr/>
            <p:nvPr/>
          </p:nvSpPr>
          <p:spPr>
            <a:xfrm>
              <a:off x="8727501" y="1887571"/>
              <a:ext cx="720000" cy="72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0;p4">
              <a:extLst>
                <a:ext uri="{FF2B5EF4-FFF2-40B4-BE49-F238E27FC236}">
                  <a16:creationId xmlns:a16="http://schemas.microsoft.com/office/drawing/2014/main" id="{D7C5A5BA-EB56-81CE-5D24-423BF531ECB8}"/>
                </a:ext>
              </a:extLst>
            </p:cNvPr>
            <p:cNvSpPr/>
            <p:nvPr/>
          </p:nvSpPr>
          <p:spPr>
            <a:xfrm>
              <a:off x="9644936" y="1989032"/>
              <a:ext cx="360000" cy="36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1;p4">
              <a:extLst>
                <a:ext uri="{FF2B5EF4-FFF2-40B4-BE49-F238E27FC236}">
                  <a16:creationId xmlns:a16="http://schemas.microsoft.com/office/drawing/2014/main" id="{C8DF22BB-5D80-2253-A640-6CE03F87FF40}"/>
                </a:ext>
              </a:extLst>
            </p:cNvPr>
            <p:cNvSpPr/>
            <p:nvPr/>
          </p:nvSpPr>
          <p:spPr>
            <a:xfrm>
              <a:off x="10269067" y="3614675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;p4">
              <a:extLst>
                <a:ext uri="{FF2B5EF4-FFF2-40B4-BE49-F238E27FC236}">
                  <a16:creationId xmlns:a16="http://schemas.microsoft.com/office/drawing/2014/main" id="{98BC86DF-D393-7AF8-E7E5-2D1BF3B40891}"/>
                </a:ext>
              </a:extLst>
            </p:cNvPr>
            <p:cNvSpPr/>
            <p:nvPr/>
          </p:nvSpPr>
          <p:spPr>
            <a:xfrm>
              <a:off x="6191293" y="4390673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3;p4">
              <a:extLst>
                <a:ext uri="{FF2B5EF4-FFF2-40B4-BE49-F238E27FC236}">
                  <a16:creationId xmlns:a16="http://schemas.microsoft.com/office/drawing/2014/main" id="{3FD97CA8-0500-E3FE-A381-FA40DE621947}"/>
                </a:ext>
              </a:extLst>
            </p:cNvPr>
            <p:cNvSpPr/>
            <p:nvPr/>
          </p:nvSpPr>
          <p:spPr>
            <a:xfrm>
              <a:off x="5791131" y="4179429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4;p4">
              <a:extLst>
                <a:ext uri="{FF2B5EF4-FFF2-40B4-BE49-F238E27FC236}">
                  <a16:creationId xmlns:a16="http://schemas.microsoft.com/office/drawing/2014/main" id="{FE8DBD0B-8FAB-CEF0-D4E1-4E3CD1B1A855}"/>
                </a:ext>
              </a:extLst>
            </p:cNvPr>
            <p:cNvSpPr/>
            <p:nvPr/>
          </p:nvSpPr>
          <p:spPr>
            <a:xfrm>
              <a:off x="9869048" y="3906960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" name="Picture 1" descr="ChatGPT Image 2026年6月18日 14_56_46 (小).png">
            <a:extLst>
              <a:ext uri="{FF2B5EF4-FFF2-40B4-BE49-F238E27FC236}">
                <a16:creationId xmlns:a16="http://schemas.microsoft.com/office/drawing/2014/main" id="{35940740-16FA-4D92-65A8-8DE16B471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90" y="368976"/>
            <a:ext cx="721930" cy="721930"/>
          </a:xfrm>
          <a:prstGeom prst="rect">
            <a:avLst/>
          </a:prstGeom>
        </p:spPr>
      </p:pic>
      <p:sp>
        <p:nvSpPr>
          <p:cNvPr id="45" name="TextBox 2">
            <a:extLst>
              <a:ext uri="{FF2B5EF4-FFF2-40B4-BE49-F238E27FC236}">
                <a16:creationId xmlns:a16="http://schemas.microsoft.com/office/drawing/2014/main" id="{B8B28C7F-E421-7359-08C5-5537103F7B96}"/>
              </a:ext>
            </a:extLst>
          </p:cNvPr>
          <p:cNvSpPr txBox="1"/>
          <p:nvPr/>
        </p:nvSpPr>
        <p:spPr>
          <a:xfrm>
            <a:off x="953295" y="529886"/>
            <a:ext cx="14636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 rtl="0">
              <a:defRPr sz="2000" b="1">
                <a:solidFill>
                  <a:srgbClr val="4B6B5A"/>
                </a:solidFill>
                <a:latin typeface="Aptos"/>
              </a:defRPr>
            </a:pPr>
            <a:r>
              <a:rPr sz="2000" b="1" dirty="0">
                <a:solidFill>
                  <a:srgbClr val="4B6B5A"/>
                </a:solidFill>
                <a:latin typeface="Aptos"/>
              </a:rPr>
              <a:t>ClavisFlow</a:t>
            </a:r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721FD08E-B157-EB06-3069-EDFF4FCD92A3}"/>
              </a:ext>
            </a:extLst>
          </p:cNvPr>
          <p:cNvSpPr txBox="1"/>
          <p:nvPr/>
        </p:nvSpPr>
        <p:spPr>
          <a:xfrm>
            <a:off x="4432300" y="5509844"/>
            <a:ext cx="24519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767D"/>
                </a:solidFill>
                <a:latin typeface="Aptos"/>
              </a:defRPr>
            </a:pPr>
            <a:r>
              <a:rPr lang="en-US" altLang="ja-JP" sz="1400" dirty="0">
                <a:solidFill>
                  <a:srgbClr val="68737D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Report ID:</a:t>
            </a:r>
            <a:r>
              <a:rPr lang="ja-JP" altLang="en-US" sz="1400" dirty="0">
                <a:solidFill>
                  <a:srgbClr val="68737D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ja-JP" sz="14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CF</a:t>
            </a:r>
            <a:r>
              <a:rPr lang="ja-JP" altLang="ja-JP" sz="135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-202607-0001</a:t>
            </a:r>
            <a:endParaRPr lang="en-US" altLang="ja-JP" sz="135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r">
              <a:defRPr sz="1000" b="0">
                <a:solidFill>
                  <a:srgbClr val="6E767D"/>
                </a:solidFill>
                <a:latin typeface="Aptos"/>
              </a:defRPr>
            </a:pPr>
            <a:r>
              <a:rPr lang="en-US" altLang="ja-JP" sz="1200" b="1" dirty="0">
                <a:solidFill>
                  <a:srgbClr val="68737D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2026.07</a:t>
            </a:r>
            <a:endParaRPr lang="ja-JP" altLang="en-US" sz="1200" b="1" dirty="0">
              <a:solidFill>
                <a:srgbClr val="68737D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defRPr sz="1000" b="0">
                <a:solidFill>
                  <a:srgbClr val="6E767D"/>
                </a:solidFill>
                <a:latin typeface="Aptos"/>
              </a:defRPr>
            </a:pPr>
            <a:endParaRPr sz="1400" dirty="0">
              <a:solidFill>
                <a:srgbClr val="68737D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8" name="TextBox 8">
            <a:extLst>
              <a:ext uri="{FF2B5EF4-FFF2-40B4-BE49-F238E27FC236}">
                <a16:creationId xmlns:a16="http://schemas.microsoft.com/office/drawing/2014/main" id="{5F74B070-0B83-4D93-D12F-4C485E5762DE}"/>
              </a:ext>
            </a:extLst>
          </p:cNvPr>
          <p:cNvSpPr txBox="1"/>
          <p:nvPr/>
        </p:nvSpPr>
        <p:spPr>
          <a:xfrm>
            <a:off x="708793" y="3794965"/>
            <a:ext cx="1261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B6B5A"/>
                </a:solidFill>
                <a:latin typeface="Aptos"/>
              </a:defRPr>
            </a:pPr>
            <a:r>
              <a:rPr dirty="0"/>
              <a:t>対象システム</a:t>
            </a:r>
          </a:p>
        </p:txBody>
      </p:sp>
    </p:spTree>
    <p:extLst>
      <p:ext uri="{BB962C8B-B14F-4D97-AF65-F5344CB8AC3E}">
        <p14:creationId xmlns:p14="http://schemas.microsoft.com/office/powerpoint/2010/main" val="118512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F70EB20-EFFD-4EEA-9E09-75463EBFB2DE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1. </a:t>
            </a:r>
            <a:r>
              <a:rPr sz="2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調査対象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調査対象となるシステムの構成と利用環境を整理しました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1B6B6A4-CEB6-41FD-BE3A-DE3C867C23DA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17CC9441-04A7-498F-BECA-9B9CE0104B63}"/>
              </a:ext>
            </a:extLst>
          </p:cNvPr>
          <p:cNvSpPr>
            <a:spLocks noGrp="1"/>
          </p:cNvSpPr>
          <p:nvPr/>
        </p:nvSpPr>
        <p:spPr>
          <a:xfrm>
            <a:off x="400050" y="1609148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6B369D7-2370-4206-921C-A90AF8DBF5D1}"/>
              </a:ext>
            </a:extLst>
          </p:cNvPr>
          <p:cNvSpPr>
            <a:spLocks noGrp="1"/>
          </p:cNvSpPr>
          <p:nvPr/>
        </p:nvSpPr>
        <p:spPr>
          <a:xfrm>
            <a:off x="564861" y="1680007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75" b="1" dirty="0" err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システム名</a:t>
            </a:r>
            <a:endParaRPr sz="975" b="1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13432C1-B49A-48DE-92A5-07390316677D}"/>
              </a:ext>
            </a:extLst>
          </p:cNvPr>
          <p:cNvSpPr>
            <a:spLocks noGrp="1"/>
          </p:cNvSpPr>
          <p:nvPr/>
        </p:nvSpPr>
        <p:spPr>
          <a:xfrm>
            <a:off x="566881" y="1962150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販売管理システム</a:t>
            </a:r>
            <a:endParaRPr sz="1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BF5D66D-92B8-4D8B-895B-CA997167A8BB}"/>
              </a:ext>
            </a:extLst>
          </p:cNvPr>
          <p:cNvSpPr>
            <a:spLocks noGrp="1"/>
          </p:cNvSpPr>
          <p:nvPr/>
        </p:nvSpPr>
        <p:spPr>
          <a:xfrm>
            <a:off x="3238500" y="15811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E1FFAFC-83B0-4738-B45B-62F5290F0F9D}"/>
              </a:ext>
            </a:extLst>
          </p:cNvPr>
          <p:cNvSpPr>
            <a:spLocks noGrp="1"/>
          </p:cNvSpPr>
          <p:nvPr/>
        </p:nvSpPr>
        <p:spPr>
          <a:xfrm>
            <a:off x="3324225" y="1680007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75" b="1" dirty="0" err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運用開始</a:t>
            </a:r>
            <a:endParaRPr sz="975" b="1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4B3D0D7-81DC-4BC2-A2E0-9E6E4F0FFD54}"/>
              </a:ext>
            </a:extLst>
          </p:cNvPr>
          <p:cNvSpPr>
            <a:spLocks noGrp="1"/>
          </p:cNvSpPr>
          <p:nvPr/>
        </p:nvSpPr>
        <p:spPr>
          <a:xfrm>
            <a:off x="3333750" y="1947863"/>
            <a:ext cx="1981200" cy="481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2004年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F33FDEE1-1285-40A6-8C35-7B7D30D8FDF9}"/>
              </a:ext>
            </a:extLst>
          </p:cNvPr>
          <p:cNvSpPr>
            <a:spLocks noGrp="1"/>
          </p:cNvSpPr>
          <p:nvPr/>
        </p:nvSpPr>
        <p:spPr>
          <a:xfrm>
            <a:off x="6076950" y="15811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8AD876F-25CB-435B-8115-3556CEE027DF}"/>
              </a:ext>
            </a:extLst>
          </p:cNvPr>
          <p:cNvSpPr>
            <a:spLocks noGrp="1"/>
          </p:cNvSpPr>
          <p:nvPr/>
        </p:nvSpPr>
        <p:spPr>
          <a:xfrm>
            <a:off x="6191250" y="1680007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75" b="1" dirty="0" err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利用人数</a:t>
            </a:r>
            <a:endParaRPr sz="975" b="1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CFE9E92-7505-4AE0-992E-2EDAD13A87FA}"/>
              </a:ext>
            </a:extLst>
          </p:cNvPr>
          <p:cNvSpPr>
            <a:spLocks noGrp="1"/>
          </p:cNvSpPr>
          <p:nvPr/>
        </p:nvSpPr>
        <p:spPr>
          <a:xfrm>
            <a:off x="6191250" y="1960994"/>
            <a:ext cx="1981200" cy="481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約80名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00EE210-2F61-4B90-842B-CFC0163912DE}"/>
              </a:ext>
            </a:extLst>
          </p:cNvPr>
          <p:cNvSpPr>
            <a:spLocks noGrp="1"/>
          </p:cNvSpPr>
          <p:nvPr/>
        </p:nvSpPr>
        <p:spPr>
          <a:xfrm>
            <a:off x="8915400" y="15811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25E325C-9BCB-4591-B553-1036BDF3C718}"/>
              </a:ext>
            </a:extLst>
          </p:cNvPr>
          <p:cNvSpPr>
            <a:spLocks noGrp="1"/>
          </p:cNvSpPr>
          <p:nvPr/>
        </p:nvSpPr>
        <p:spPr>
          <a:xfrm>
            <a:off x="9001125" y="1679718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75" b="1" dirty="0" err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利用技術</a:t>
            </a:r>
            <a:endParaRPr sz="975" b="1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94AD36F-853A-4D7C-89E9-ACF2ACCA6298}"/>
              </a:ext>
            </a:extLst>
          </p:cNvPr>
          <p:cNvSpPr>
            <a:spLocks noGrp="1"/>
          </p:cNvSpPr>
          <p:nvPr/>
        </p:nvSpPr>
        <p:spPr>
          <a:xfrm>
            <a:off x="9034463" y="1947863"/>
            <a:ext cx="1981200" cy="481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VB6 / Access / </a:t>
            </a:r>
            <a:endParaRPr lang="en-US" sz="1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SQL Server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28AB03D-C255-4D40-AAA4-D0E0F8D449E0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5219700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9730F9E5-39A3-4B13-9158-B69C40EB7E9C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66675" cy="2724150"/>
          </a:xfrm>
          <a:prstGeom prst="roundRect">
            <a:avLst>
              <a:gd name="adj" fmla="val 50000"/>
            </a:avLst>
          </a:prstGeom>
          <a:solidFill>
            <a:srgbClr val="174A7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44BC4BD-CAE8-4335-AC27-63CCDD4903B3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ソース構成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C3C6E19B-AB7B-44DF-B571-8CBA47B5DDED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381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SalesSystem.vbg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SalesClient.vbp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画面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: 12 /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帳票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: 3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SalesCommon.vbp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SalesBatch.vbp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SalesReport.vbp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画面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: 6 /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帳票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: 24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SharedLibrary.vbp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1D5CF589-9AEF-4D74-BA0B-E8575A273CBE}"/>
              </a:ext>
            </a:extLst>
          </p:cNvPr>
          <p:cNvSpPr>
            <a:spLocks noGrp="1"/>
          </p:cNvSpPr>
          <p:nvPr/>
        </p:nvSpPr>
        <p:spPr>
          <a:xfrm>
            <a:off x="6000750" y="2876550"/>
            <a:ext cx="2686050" cy="272415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91F969A4-68A1-4787-9885-0E996B0ADF3B}"/>
              </a:ext>
            </a:extLst>
          </p:cNvPr>
          <p:cNvSpPr>
            <a:spLocks noGrp="1"/>
          </p:cNvSpPr>
          <p:nvPr/>
        </p:nvSpPr>
        <p:spPr>
          <a:xfrm>
            <a:off x="6000750" y="2876550"/>
            <a:ext cx="66675" cy="272415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D056A71-8177-42ED-BDAE-DAC586908DE1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DB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6210F51C-033B-4732-925E-6F9D979A8AF2}"/>
              </a:ext>
            </a:extLst>
          </p:cNvPr>
          <p:cNvSpPr>
            <a:spLocks noGrp="1"/>
          </p:cNvSpPr>
          <p:nvPr/>
        </p:nvSpPr>
        <p:spPr>
          <a:xfrm>
            <a:off x="6324600" y="3657600"/>
            <a:ext cx="2000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sz="120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SalesDB</a:t>
            </a:r>
            <a:endParaRPr lang="en-US" sz="120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- 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Tables: 93</a:t>
            </a: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- 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Views: 21</a:t>
            </a: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- 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Stored Procedures: 37</a:t>
            </a: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414C0F0D-52D2-4040-9A6F-48C8DD9E7DD3}"/>
              </a:ext>
            </a:extLst>
          </p:cNvPr>
          <p:cNvSpPr>
            <a:spLocks noGrp="1"/>
          </p:cNvSpPr>
          <p:nvPr/>
        </p:nvSpPr>
        <p:spPr>
          <a:xfrm>
            <a:off x="9067800" y="2876550"/>
            <a:ext cx="2724150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102AA462-4933-4DBC-A23B-2B38A29E22B3}"/>
              </a:ext>
            </a:extLst>
          </p:cNvPr>
          <p:cNvSpPr>
            <a:spLocks noGrp="1"/>
          </p:cNvSpPr>
          <p:nvPr/>
        </p:nvSpPr>
        <p:spPr>
          <a:xfrm>
            <a:off x="9067800" y="2876550"/>
            <a:ext cx="66675" cy="2724150"/>
          </a:xfrm>
          <a:prstGeom prst="roundRect">
            <a:avLst>
              <a:gd name="adj" fmla="val 50000"/>
            </a:avLst>
          </a:prstGeom>
          <a:solidFill>
            <a:srgbClr val="D9682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B4EB771F-48C3-4D59-8152-DB8E28FF2257}"/>
              </a:ext>
            </a:extLst>
          </p:cNvPr>
          <p:cNvSpPr>
            <a:spLocks noGrp="1"/>
          </p:cNvSpPr>
          <p:nvPr/>
        </p:nvSpPr>
        <p:spPr>
          <a:xfrm>
            <a:off x="9391650" y="32194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ファイル</a:t>
            </a:r>
            <a:endParaRPr sz="172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151F73C1-B1D6-4B0C-8BD3-9CF057CE7056}"/>
              </a:ext>
            </a:extLst>
          </p:cNvPr>
          <p:cNvSpPr>
            <a:spLocks noGrp="1"/>
          </p:cNvSpPr>
          <p:nvPr/>
        </p:nvSpPr>
        <p:spPr>
          <a:xfrm>
            <a:off x="9391650" y="3657600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得意先マスタ.accdb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送り状発行.accdb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請求書発行.accdb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A社向け受注取込.xlsm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月次売上集計.xlsm</a:t>
            </a:r>
          </a:p>
        </p:txBody>
      </p:sp>
    </p:spTree>
    <p:extLst>
      <p:ext uri="{BB962C8B-B14F-4D97-AF65-F5344CB8AC3E}">
        <p14:creationId xmlns:p14="http://schemas.microsoft.com/office/powerpoint/2010/main" val="1993659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B4C9A9B-04A5-4F4B-8A9E-EBFC882BBF15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2. </a:t>
            </a:r>
            <a:r>
              <a:rPr lang="ja-JP" alt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調査</a:t>
            </a:r>
            <a:r>
              <a:rPr sz="2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資料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現状把握に利用した資料と調査対象を整理しました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A96717D5-C5C4-485F-AB84-1F4E0A432BCC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2342F534-CE30-4C81-B1B4-E74745ACB4BD}"/>
              </a:ext>
            </a:extLst>
          </p:cNvPr>
          <p:cNvSpPr>
            <a:spLocks noGrp="1"/>
          </p:cNvSpPr>
          <p:nvPr/>
        </p:nvSpPr>
        <p:spPr>
          <a:xfrm>
            <a:off x="400050" y="1600199"/>
            <a:ext cx="5562600" cy="4429125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F1595D2A-81CA-4F11-A5B6-DEFEE554A6D0}"/>
              </a:ext>
            </a:extLst>
          </p:cNvPr>
          <p:cNvSpPr>
            <a:spLocks noGrp="1"/>
          </p:cNvSpPr>
          <p:nvPr/>
        </p:nvSpPr>
        <p:spPr>
          <a:xfrm>
            <a:off x="399472" y="1600200"/>
            <a:ext cx="67253" cy="4429124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A83770D-3C99-4518-A215-B755AFCB778C}"/>
              </a:ext>
            </a:extLst>
          </p:cNvPr>
          <p:cNvSpPr>
            <a:spLocks noGrp="1"/>
          </p:cNvSpPr>
          <p:nvPr/>
        </p:nvSpPr>
        <p:spPr>
          <a:xfrm>
            <a:off x="694747" y="1756642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8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確認できた資料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AA387A4-94EE-4126-9DDD-DFFD36065A51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F7C70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 err="1">
                <a:solidFill>
                  <a:srgbClr val="0F7C70"/>
                </a:solidFill>
                <a:latin typeface="Yu Gothic"/>
                <a:ea typeface="Yu Gothic"/>
                <a:cs typeface="Yu Gothic"/>
              </a:rPr>
              <a:t>設計資料</a:t>
            </a:r>
            <a:endParaRPr sz="1400" b="1" dirty="0">
              <a:solidFill>
                <a:srgbClr val="0F7C70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52B24F3-8A52-483F-B98A-3923592FC369}"/>
              </a:ext>
            </a:extLst>
          </p:cNvPr>
          <p:cNvSpPr>
            <a:spLocks noGrp="1"/>
          </p:cNvSpPr>
          <p:nvPr/>
        </p:nvSpPr>
        <p:spPr>
          <a:xfrm>
            <a:off x="800100" y="2781300"/>
            <a:ext cx="457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SalesDB_ER図_20120902.xlsx</a:t>
            </a: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【販売管理システム】テーブル定義書_20120902.xlsx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EA590D7-0549-44AE-959C-9CD3D4B8FB76}"/>
              </a:ext>
            </a:extLst>
          </p:cNvPr>
          <p:cNvSpPr>
            <a:spLocks noGrp="1"/>
          </p:cNvSpPr>
          <p:nvPr/>
        </p:nvSpPr>
        <p:spPr>
          <a:xfrm>
            <a:off x="800099" y="3505200"/>
            <a:ext cx="3196865" cy="1333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F7C70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 err="1">
                <a:solidFill>
                  <a:srgbClr val="0F7C70"/>
                </a:solidFill>
                <a:latin typeface="Yu Gothic"/>
                <a:ea typeface="Yu Gothic"/>
                <a:cs typeface="Yu Gothic"/>
              </a:rPr>
              <a:t>帳票サンプル</a:t>
            </a:r>
            <a:r>
              <a:rPr sz="1400" b="1" dirty="0">
                <a:solidFill>
                  <a:srgbClr val="0F7C70"/>
                </a:solidFill>
                <a:latin typeface="Yu Gothic"/>
                <a:ea typeface="Yu Gothic"/>
                <a:cs typeface="Yu Gothic"/>
              </a:rPr>
              <a:t> / </a:t>
            </a:r>
            <a:r>
              <a:rPr sz="1400" b="1" dirty="0" err="1">
                <a:solidFill>
                  <a:srgbClr val="0F7C70"/>
                </a:solidFill>
                <a:latin typeface="Yu Gothic"/>
                <a:ea typeface="Yu Gothic"/>
                <a:cs typeface="Yu Gothic"/>
              </a:rPr>
              <a:t>取込データ</a:t>
            </a:r>
            <a:endParaRPr sz="1400" b="1" dirty="0">
              <a:solidFill>
                <a:srgbClr val="0F7C70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66E18B08-8C17-4D92-A920-887F4EE9B553}"/>
              </a:ext>
            </a:extLst>
          </p:cNvPr>
          <p:cNvSpPr>
            <a:spLocks noGrp="1"/>
          </p:cNvSpPr>
          <p:nvPr/>
        </p:nvSpPr>
        <p:spPr>
          <a:xfrm>
            <a:off x="800100" y="3810000"/>
            <a:ext cx="4572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R001_請求書.pdf</a:t>
            </a: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R012_納品書.pdf</a:t>
            </a: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E021_得意先別売上一覧.xlsx</a:t>
            </a: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A社受注データ_202605.xlsx</a:t>
            </a: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B社商品マスター_202605.csv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045DD55F-2D53-4730-B07A-47ABD0C71DE4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49911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AAD253AD-A9A0-41C7-82E4-C0D084F1B16F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D9682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5A65C1B-A3DE-44BF-8C6C-FD50C9A080CF}"/>
              </a:ext>
            </a:extLst>
          </p:cNvPr>
          <p:cNvSpPr>
            <a:spLocks noGrp="1"/>
          </p:cNvSpPr>
          <p:nvPr/>
        </p:nvSpPr>
        <p:spPr>
          <a:xfrm>
            <a:off x="6753225" y="1750869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その他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FBD7706-19B5-4C41-BB0D-20D76F94C5A4}"/>
              </a:ext>
            </a:extLst>
          </p:cNvPr>
          <p:cNvSpPr>
            <a:spLocks noGrp="1"/>
          </p:cNvSpPr>
          <p:nvPr/>
        </p:nvSpPr>
        <p:spPr>
          <a:xfrm>
            <a:off x="6781800" y="2225388"/>
            <a:ext cx="3429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</a:t>
            </a:r>
            <a:r>
              <a:rPr lang="ja-JP" altLang="en-US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ja-JP" sz="1400" dirty="0"/>
              <a:t>運用メモ </a:t>
            </a:r>
            <a:endParaRPr lang="en-US" altLang="ja-JP" sz="14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</a:t>
            </a:r>
            <a:r>
              <a:rPr lang="ja-JP" altLang="ja-JP" sz="1400" dirty="0"/>
              <a:t>ヒアリング</a:t>
            </a:r>
            <a:r>
              <a:rPr lang="en-US" altLang="ja-JP" sz="1400" dirty="0"/>
              <a:t> / </a:t>
            </a:r>
            <a:r>
              <a:rPr lang="ja-JP" altLang="en-US" sz="1400" dirty="0"/>
              <a:t>打合せ議事録</a:t>
            </a:r>
            <a:endParaRPr lang="en-US" altLang="ja-JP" sz="14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</a:t>
            </a:r>
            <a:r>
              <a:rPr lang="ja-JP" altLang="ja-JP" sz="1400" dirty="0"/>
              <a:t>ソースコード</a:t>
            </a:r>
            <a:endParaRPr lang="en-US" altLang="ja-JP" sz="14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</a:t>
            </a:r>
            <a:r>
              <a:rPr lang="ja-JP" altLang="ja-JP" sz="1400" dirty="0"/>
              <a:t>データベース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64338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B9E3C4A-81D9-498E-9FAE-7B6EE304B48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43D25CD-D026-4658-B196-537D87D01B88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6AEAD15-776D-4070-862E-D77D45453EDD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78A4583-22BE-4DFD-AFCF-0EA3EEF636C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6F2BC07-97B9-4858-A824-5A6039A0B76E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4466A19-EA5B-436A-9571-19A2D94268F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8A5366D-A8FF-4C02-8805-1EA8C2FEDA73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9BE6DC3-4A18-4084-84BF-154F86E3AAFD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B3F6A08-8FA5-4540-BA11-D540CDC728A1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C4B3978-F889-4588-9E37-9D894ED0AE0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7E78592-EC2E-4BBB-9269-060934EF270B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D8DEE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044BFBE-1569-43A1-A1A6-719CADE20AF2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3.</a:t>
            </a:r>
            <a:r>
              <a:rPr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システム構成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典型的なクライアントサーバーシステムです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38B6395-C391-45A3-AE2B-35BEEAE7E9CF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ABBD121F-4FDB-484D-8ACC-CFFDB06403A6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1619250" cy="3848100"/>
          </a:xfrm>
          <a:prstGeom prst="roundRect">
            <a:avLst>
              <a:gd name="adj" fmla="val 2353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10A9C60-2A43-4991-9F13-02D78B69F907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7CEF3AB2-98A1-4693-ADF5-1FE1C917C4D3}"/>
              </a:ext>
            </a:extLst>
          </p:cNvPr>
          <p:cNvSpPr>
            <a:spLocks noGrp="1"/>
          </p:cNvSpPr>
          <p:nvPr/>
        </p:nvSpPr>
        <p:spPr>
          <a:xfrm>
            <a:off x="2324100" y="1619250"/>
            <a:ext cx="1866900" cy="3848100"/>
          </a:xfrm>
          <a:prstGeom prst="roundRect">
            <a:avLst>
              <a:gd name="adj" fmla="val 2041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851A8F0-EF71-49F6-B180-77F87B971B11}"/>
              </a:ext>
            </a:extLst>
          </p:cNvPr>
          <p:cNvSpPr>
            <a:spLocks noGrp="1"/>
          </p:cNvSpPr>
          <p:nvPr/>
        </p:nvSpPr>
        <p:spPr>
          <a:xfrm>
            <a:off x="2590800" y="18859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社内NW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070C385F-B38A-490D-A4CA-8B2C04041C74}"/>
              </a:ext>
            </a:extLst>
          </p:cNvPr>
          <p:cNvSpPr>
            <a:spLocks noGrp="1"/>
          </p:cNvSpPr>
          <p:nvPr/>
        </p:nvSpPr>
        <p:spPr>
          <a:xfrm>
            <a:off x="4495800" y="1619250"/>
            <a:ext cx="3105150" cy="3848100"/>
          </a:xfrm>
          <a:prstGeom prst="roundRect">
            <a:avLst>
              <a:gd name="adj" fmla="val 1227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CDE04E9-092C-41D0-B5CC-5E369E147A5B}"/>
              </a:ext>
            </a:extLst>
          </p:cNvPr>
          <p:cNvSpPr>
            <a:spLocks noGrp="1"/>
          </p:cNvSpPr>
          <p:nvPr/>
        </p:nvSpPr>
        <p:spPr>
          <a:xfrm>
            <a:off x="4762500" y="18859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販売管理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6FED586F-3C34-467F-A353-64CF609E5519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1809750" cy="3848100"/>
          </a:xfrm>
          <a:prstGeom prst="roundRect">
            <a:avLst>
              <a:gd name="adj" fmla="val 2105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AFAB863-67BA-4A16-9387-55EA2F576286}"/>
              </a:ext>
            </a:extLst>
          </p:cNvPr>
          <p:cNvSpPr>
            <a:spLocks noGrp="1"/>
          </p:cNvSpPr>
          <p:nvPr/>
        </p:nvSpPr>
        <p:spPr>
          <a:xfrm>
            <a:off x="8172450" y="188595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外部連携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618A698C-E593-4A16-BBFA-8D1443B9B74F}"/>
              </a:ext>
            </a:extLst>
          </p:cNvPr>
          <p:cNvSpPr>
            <a:spLocks noGrp="1"/>
          </p:cNvSpPr>
          <p:nvPr/>
        </p:nvSpPr>
        <p:spPr>
          <a:xfrm>
            <a:off x="10020300" y="1619250"/>
            <a:ext cx="1771650" cy="3848100"/>
          </a:xfrm>
          <a:prstGeom prst="roundRect">
            <a:avLst>
              <a:gd name="adj" fmla="val 2151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FCC3724-7EEA-430F-B4E5-DFDCD190FAE4}"/>
              </a:ext>
            </a:extLst>
          </p:cNvPr>
          <p:cNvSpPr>
            <a:spLocks noGrp="1"/>
          </p:cNvSpPr>
          <p:nvPr/>
        </p:nvSpPr>
        <p:spPr>
          <a:xfrm>
            <a:off x="10287000" y="18859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運用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CF8D8C6-0519-4BF1-A593-A257E3D2016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4A4D50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営業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54C366A-E071-45B5-8D0F-F7907430477F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4A4D50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事務担当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C13AFE14-7196-49C7-A19F-CFFD9EBD4ECD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4A4D50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管理部門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9CF8FB50-7FAC-4030-947E-A0865EBF2222}"/>
              </a:ext>
            </a:extLst>
          </p:cNvPr>
          <p:cNvSpPr>
            <a:spLocks noGrp="1"/>
          </p:cNvSpPr>
          <p:nvPr/>
        </p:nvSpPr>
        <p:spPr>
          <a:xfrm>
            <a:off x="2628900" y="2962275"/>
            <a:ext cx="1257300" cy="609600"/>
          </a:xfrm>
          <a:prstGeom prst="roundRect">
            <a:avLst>
              <a:gd name="adj" fmla="val 12500"/>
            </a:avLst>
          </a:prstGeom>
          <a:solidFill>
            <a:srgbClr val="174A72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社内LAN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VPN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8576C9AA-78F5-4F58-94F8-5D041697FDAF}"/>
              </a:ext>
            </a:extLst>
          </p:cNvPr>
          <p:cNvSpPr>
            <a:spLocks noGrp="1"/>
          </p:cNvSpPr>
          <p:nvPr/>
        </p:nvSpPr>
        <p:spPr>
          <a:xfrm>
            <a:off x="2628901" y="3982606"/>
            <a:ext cx="1257300" cy="609600"/>
          </a:xfrm>
          <a:prstGeom prst="roundRect">
            <a:avLst>
              <a:gd name="adj" fmla="val 12500"/>
            </a:avLst>
          </a:prstGeom>
          <a:solidFill>
            <a:srgbClr val="174A72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共有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フォルダ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D5CA3AE7-462D-43D5-BFED-693FC73D8786}"/>
              </a:ext>
            </a:extLst>
          </p:cNvPr>
          <p:cNvSpPr>
            <a:spLocks noGrp="1"/>
          </p:cNvSpPr>
          <p:nvPr/>
        </p:nvSpPr>
        <p:spPr>
          <a:xfrm>
            <a:off x="4724400" y="2209800"/>
            <a:ext cx="1123950" cy="514350"/>
          </a:xfrm>
          <a:prstGeom prst="roundRect">
            <a:avLst>
              <a:gd name="adj" fmla="val 14815"/>
            </a:avLst>
          </a:prstGeom>
          <a:solidFill>
            <a:srgbClr val="277A4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Access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帳票</a:t>
            </a: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42DBBAC2-E44E-4050-9D6C-D6AA1A1CA714}"/>
              </a:ext>
            </a:extLst>
          </p:cNvPr>
          <p:cNvSpPr>
            <a:spLocks noGrp="1"/>
          </p:cNvSpPr>
          <p:nvPr/>
        </p:nvSpPr>
        <p:spPr>
          <a:xfrm>
            <a:off x="6248400" y="2209800"/>
            <a:ext cx="1123950" cy="514350"/>
          </a:xfrm>
          <a:prstGeom prst="roundRect">
            <a:avLst>
              <a:gd name="adj" fmla="val 14815"/>
            </a:avLst>
          </a:prstGeom>
          <a:solidFill>
            <a:srgbClr val="277A4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Excel VBA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取込・集計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08102486-6A06-408C-A738-7454E62B71F3}"/>
              </a:ext>
            </a:extLst>
          </p:cNvPr>
          <p:cNvSpPr>
            <a:spLocks noGrp="1"/>
          </p:cNvSpPr>
          <p:nvPr/>
        </p:nvSpPr>
        <p:spPr>
          <a:xfrm>
            <a:off x="5391150" y="2914650"/>
            <a:ext cx="1333500" cy="704850"/>
          </a:xfrm>
          <a:prstGeom prst="roundRect">
            <a:avLst>
              <a:gd name="adj" fmla="val 10811"/>
            </a:avLst>
          </a:prstGeom>
          <a:solidFill>
            <a:srgbClr val="277A4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VB6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クライアント</a:t>
            </a: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9459148B-4771-448F-99E3-B2D3D4226654}"/>
              </a:ext>
            </a:extLst>
          </p:cNvPr>
          <p:cNvSpPr>
            <a:spLocks noGrp="1"/>
          </p:cNvSpPr>
          <p:nvPr/>
        </p:nvSpPr>
        <p:spPr>
          <a:xfrm>
            <a:off x="5381914" y="3940607"/>
            <a:ext cx="1352550" cy="666750"/>
          </a:xfrm>
          <a:prstGeom prst="roundRect">
            <a:avLst>
              <a:gd name="adj" fmla="val 11429"/>
            </a:avLst>
          </a:prstGeom>
          <a:solidFill>
            <a:srgbClr val="0F7C70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SQL Server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SalesDB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EE6C5402-FB3B-47E6-8EB9-4818528E7858}"/>
              </a:ext>
            </a:extLst>
          </p:cNvPr>
          <p:cNvSpPr>
            <a:spLocks noGrp="1"/>
          </p:cNvSpPr>
          <p:nvPr/>
        </p:nvSpPr>
        <p:spPr>
          <a:xfrm>
            <a:off x="6105525" y="4889068"/>
            <a:ext cx="1162050" cy="457200"/>
          </a:xfrm>
          <a:prstGeom prst="roundRect">
            <a:avLst>
              <a:gd name="adj" fmla="val 16667"/>
            </a:avLst>
          </a:prstGeom>
          <a:solidFill>
            <a:srgbClr val="277A4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バッチ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処理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3F25C9A5-803E-4203-830E-A3FD495DF71B}"/>
              </a:ext>
            </a:extLst>
          </p:cNvPr>
          <p:cNvSpPr>
            <a:spLocks noGrp="1"/>
          </p:cNvSpPr>
          <p:nvPr/>
        </p:nvSpPr>
        <p:spPr>
          <a:xfrm>
            <a:off x="8286750" y="2472747"/>
            <a:ext cx="1104900" cy="514350"/>
          </a:xfrm>
          <a:prstGeom prst="roundRect">
            <a:avLst>
              <a:gd name="adj" fmla="val 14815"/>
            </a:avLst>
          </a:prstGeom>
          <a:solidFill>
            <a:srgbClr val="D9682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A社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受注</a:t>
            </a: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FAB441AD-2955-4FA2-9272-43FFF358D2DD}"/>
              </a:ext>
            </a:extLst>
          </p:cNvPr>
          <p:cNvSpPr>
            <a:spLocks noGrp="1"/>
          </p:cNvSpPr>
          <p:nvPr/>
        </p:nvSpPr>
        <p:spPr>
          <a:xfrm>
            <a:off x="8286750" y="4037444"/>
            <a:ext cx="1104900" cy="514350"/>
          </a:xfrm>
          <a:prstGeom prst="roundRect">
            <a:avLst>
              <a:gd name="adj" fmla="val 14815"/>
            </a:avLst>
          </a:prstGeom>
          <a:solidFill>
            <a:srgbClr val="D9682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B社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商品マスタ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F3DC474F-43AC-406A-96E5-27CA9C0445BF}"/>
              </a:ext>
            </a:extLst>
          </p:cNvPr>
          <p:cNvSpPr>
            <a:spLocks noGrp="1"/>
          </p:cNvSpPr>
          <p:nvPr/>
        </p:nvSpPr>
        <p:spPr>
          <a:xfrm>
            <a:off x="10334625" y="2495550"/>
            <a:ext cx="1123950" cy="590550"/>
          </a:xfrm>
          <a:prstGeom prst="roundRect">
            <a:avLst>
              <a:gd name="adj" fmla="val 12903"/>
            </a:avLst>
          </a:prstGeom>
          <a:solidFill>
            <a:srgbClr val="5B4A8B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運用メモ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手順書</a:t>
            </a: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07BEAE8A-7418-4C75-9C81-03D83CBB3626}"/>
              </a:ext>
            </a:extLst>
          </p:cNvPr>
          <p:cNvSpPr>
            <a:spLocks noGrp="1"/>
          </p:cNvSpPr>
          <p:nvPr/>
        </p:nvSpPr>
        <p:spPr>
          <a:xfrm>
            <a:off x="10334625" y="4000500"/>
            <a:ext cx="1123950" cy="590550"/>
          </a:xfrm>
          <a:prstGeom prst="roundRect">
            <a:avLst>
              <a:gd name="adj" fmla="val 12903"/>
            </a:avLst>
          </a:prstGeom>
          <a:solidFill>
            <a:srgbClr val="5B4A8B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請求書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送り状</a:t>
            </a:r>
          </a:p>
        </p:txBody>
      </p:sp>
      <p:sp>
        <p:nvSpPr>
          <p:cNvPr id="52" name="直線コネクタ 51">
            <a:extLst>
              <a:ext uri="{FF2B5EF4-FFF2-40B4-BE49-F238E27FC236}">
                <a16:creationId xmlns:a16="http://schemas.microsoft.com/office/drawing/2014/main" id="{837C3792-B12C-4D7A-AD27-02FC6ED095D8}"/>
              </a:ext>
            </a:extLst>
          </p:cNvPr>
          <p:cNvSpPr>
            <a:spLocks noGrp="1"/>
          </p:cNvSpPr>
          <p:nvPr/>
        </p:nvSpPr>
        <p:spPr>
          <a:xfrm>
            <a:off x="2628900" y="3219450"/>
            <a:ext cx="0" cy="0"/>
          </a:xfrm>
          <a:prstGeom prst="line">
            <a:avLst/>
          </a:prstGeom>
          <a:noFill/>
          <a:ln w="19050">
            <a:solidFill>
              <a:srgbClr val="174A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55D6CEFB-1D25-2291-4188-865000A28C2E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>
          <a:xfrm>
            <a:off x="3886200" y="3267075"/>
            <a:ext cx="15049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B6E7C5FE-A8BA-7F38-6A2F-97A255E1EFEA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3257550" y="3571875"/>
            <a:ext cx="1" cy="4107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02CC77C6-ADE6-231E-5094-C4A6265EA312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>
            <a:off x="5286375" y="2724150"/>
            <a:ext cx="771525" cy="19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7BCD00C1-42F4-B469-925D-99242E2E3068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flipH="1">
            <a:off x="6057900" y="2724150"/>
            <a:ext cx="752475" cy="19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6424B59B-B8AC-144F-B93E-2914AA6E8E52}"/>
              </a:ext>
            </a:extLst>
          </p:cNvPr>
          <p:cNvCxnSpPr>
            <a:cxnSpLocks/>
            <a:stCxn id="46" idx="0"/>
            <a:endCxn id="45" idx="2"/>
          </p:cNvCxnSpPr>
          <p:nvPr/>
        </p:nvCxnSpPr>
        <p:spPr>
          <a:xfrm flipH="1" flipV="1">
            <a:off x="6057900" y="3619500"/>
            <a:ext cx="289" cy="321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CD86F95E-B58D-13DE-0FF8-F5C038DC3494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6058189" y="4607357"/>
            <a:ext cx="628361" cy="281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832A64F0-F0F4-A958-E2C3-B4517CFC6242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>
            <a:off x="9391650" y="4294619"/>
            <a:ext cx="942975" cy="11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2D5ED7D3-166D-4906-CD84-D7A795894402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 flipV="1">
            <a:off x="3886201" y="4273982"/>
            <a:ext cx="1495713" cy="1342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04A658D4-8ECC-C9D3-6697-694647BB8CBA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>
            <a:off x="7372350" y="2466975"/>
            <a:ext cx="914400" cy="26294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5E7DB2F1-85A3-2CE9-0427-BEB5EB7F2AF5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6724650" y="3267075"/>
            <a:ext cx="1562100" cy="102754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254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29BA0AC-C640-4532-99B7-EA77FEE4D45A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4. </a:t>
            </a:r>
            <a:r>
              <a:rPr lang="ja-JP" alt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診断結果①</a:t>
            </a:r>
            <a:endParaRPr lang="en-US" altLang="ja-JP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20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設計書の不足は、残存資料で一部補えます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25980E8-A46B-47BC-B384-132FD692C7CB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5943B1A2-93F3-428B-9D29-B3C0FD9652A1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4476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D98703C7-C180-4E6D-9D58-A99E06756CC6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66675" cy="3143250"/>
          </a:xfrm>
          <a:prstGeom prst="roundRect">
            <a:avLst>
              <a:gd name="adj" fmla="val 50000"/>
            </a:avLst>
          </a:prstGeom>
          <a:solidFill>
            <a:srgbClr val="D9682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AAF40A2-F8F5-4F29-8204-20D6AAAD6C15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b="1" dirty="0"/>
              <a:t>確認できなかった資料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A8222C8-8440-4FC4-8126-97A6BC90AD21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3048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基本設計書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詳細設計書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画面設計書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バッチ処理仕様書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インターフェース仕様書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更新履歴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BF7CAC28-4953-4E72-A8B1-9FE727C073CF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48006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42762284-CE29-4511-A28D-63E4FBD7B55C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66675" cy="314325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CE80269-8590-4436-A1A1-7711C72DC695}"/>
              </a:ext>
            </a:extLst>
          </p:cNvPr>
          <p:cNvSpPr>
            <a:spLocks noGrp="1"/>
          </p:cNvSpPr>
          <p:nvPr/>
        </p:nvSpPr>
        <p:spPr>
          <a:xfrm>
            <a:off x="6496050" y="21336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b="1" dirty="0"/>
              <a:t>現状把握に活用した資料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70E6129-F8F7-439B-AE31-13D1BBD399D3}"/>
              </a:ext>
            </a:extLst>
          </p:cNvPr>
          <p:cNvSpPr>
            <a:spLocks noGrp="1"/>
          </p:cNvSpPr>
          <p:nvPr/>
        </p:nvSpPr>
        <p:spPr>
          <a:xfrm>
            <a:off x="6534149" y="2724150"/>
            <a:ext cx="3882469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ER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図と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テーブル定義からデータ構造を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把握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帳票サンプルから出力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内容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を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把握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取込データから外部連携を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把握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運用メモから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運用手順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を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把握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1040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B581E52-8ABB-449A-986D-82D6EAE959FC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4. </a:t>
            </a:r>
            <a:r>
              <a:rPr lang="ja-JP" alt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診断結果②</a:t>
            </a:r>
            <a:endParaRPr lang="en-US" altLang="ja-JP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技術資産の確認結果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5BCD841-F773-4BFC-BD07-F012521760E7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07205F5-16A9-4B2F-8064-DBF35D107BD1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514350"/>
          </a:xfrm>
          <a:prstGeom prst="roundRect">
            <a:avLst>
              <a:gd name="adj" fmla="val 11111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B1A8E91-AB4B-4081-AB2A-6E940F0E1241}"/>
              </a:ext>
            </a:extLst>
          </p:cNvPr>
          <p:cNvSpPr>
            <a:spLocks noGrp="1"/>
          </p:cNvSpPr>
          <p:nvPr/>
        </p:nvSpPr>
        <p:spPr>
          <a:xfrm>
            <a:off x="628650" y="1791092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調査領域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90CBD1B-448C-4A5F-9401-F3254CF270CA}"/>
              </a:ext>
            </a:extLst>
          </p:cNvPr>
          <p:cNvSpPr>
            <a:spLocks noGrp="1"/>
          </p:cNvSpPr>
          <p:nvPr/>
        </p:nvSpPr>
        <p:spPr>
          <a:xfrm>
            <a:off x="2419350" y="1791092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確認</a:t>
            </a:r>
            <a:r>
              <a:rPr lang="ja-JP" altLang="en-US" sz="112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68FBF74-3C01-4729-9571-9AFE45C2A640}"/>
              </a:ext>
            </a:extLst>
          </p:cNvPr>
          <p:cNvSpPr>
            <a:spLocks noGrp="1"/>
          </p:cNvSpPr>
          <p:nvPr/>
        </p:nvSpPr>
        <p:spPr>
          <a:xfrm>
            <a:off x="5372100" y="1791092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推奨対応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A87632F-72A6-4AC9-95B9-AD87D1B38060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113919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EF3B9CC-5073-444E-8D68-6E700C75B90C}"/>
              </a:ext>
            </a:extLst>
          </p:cNvPr>
          <p:cNvSpPr>
            <a:spLocks noGrp="1"/>
          </p:cNvSpPr>
          <p:nvPr/>
        </p:nvSpPr>
        <p:spPr>
          <a:xfrm>
            <a:off x="628650" y="23907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75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バッチ</a:t>
            </a:r>
            <a:endParaRPr sz="127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E4E7F72-4F75-44DE-8878-88393329A504}"/>
              </a:ext>
            </a:extLst>
          </p:cNvPr>
          <p:cNvSpPr>
            <a:spLocks noGrp="1"/>
          </p:cNvSpPr>
          <p:nvPr/>
        </p:nvSpPr>
        <p:spPr>
          <a:xfrm>
            <a:off x="2419350" y="239077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DTSパッケージの利用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019EFEB-6E3A-4BD8-9314-377B87FD2F1E}"/>
              </a:ext>
            </a:extLst>
          </p:cNvPr>
          <p:cNvSpPr>
            <a:spLocks noGrp="1"/>
          </p:cNvSpPr>
          <p:nvPr/>
        </p:nvSpPr>
        <p:spPr>
          <a:xfrm>
            <a:off x="5372100" y="23907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将来の保守性を考慮し、利用状況の整理を推奨</a:t>
            </a:r>
            <a:r>
              <a:rPr lang="ja-JP" altLang="en-US" sz="1200" dirty="0"/>
              <a:t>します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EFBA0F1-2A6F-4BC2-B4CF-179674F14638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11391900" cy="704850"/>
          </a:xfrm>
          <a:prstGeom prst="rect">
            <a:avLst/>
          </a:prstGeom>
          <a:solidFill>
            <a:srgbClr val="F2F5F7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1F4763E-87ED-4AA7-B50D-F423056C6E1B}"/>
              </a:ext>
            </a:extLst>
          </p:cNvPr>
          <p:cNvSpPr>
            <a:spLocks noGrp="1"/>
          </p:cNvSpPr>
          <p:nvPr/>
        </p:nvSpPr>
        <p:spPr>
          <a:xfrm>
            <a:off x="628650" y="30956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帳票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12C8CFA-3DAB-4352-B733-C06663A33F53}"/>
              </a:ext>
            </a:extLst>
          </p:cNvPr>
          <p:cNvSpPr>
            <a:spLocks noGrp="1"/>
          </p:cNvSpPr>
          <p:nvPr/>
        </p:nvSpPr>
        <p:spPr>
          <a:xfrm>
            <a:off x="2419350" y="3009508"/>
            <a:ext cx="2381250" cy="4194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ActiveReports</a:t>
            </a:r>
            <a:r>
              <a:rPr lang="ja-JP" altLang="en-US" sz="1200" dirty="0"/>
              <a:t>・</a:t>
            </a:r>
            <a:r>
              <a:rPr lang="ja-JP" altLang="ja-JP" sz="1200" dirty="0"/>
              <a:t>GrapeCity</a:t>
            </a:r>
            <a:endParaRPr lang="en-US" altLang="ja-JP" sz="12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の利用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DC26E80-BF69-4B8E-AD3B-716AA22B6DE0}"/>
              </a:ext>
            </a:extLst>
          </p:cNvPr>
          <p:cNvSpPr>
            <a:spLocks noGrp="1"/>
          </p:cNvSpPr>
          <p:nvPr/>
        </p:nvSpPr>
        <p:spPr>
          <a:xfrm>
            <a:off x="5372100" y="309562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ライセンス・保守契約の確認を推奨</a:t>
            </a:r>
            <a:r>
              <a:rPr lang="ja-JP" altLang="en-US" sz="1200" dirty="0"/>
              <a:t>します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179F9BE-3259-46BA-A848-050DB053045C}"/>
              </a:ext>
            </a:extLst>
          </p:cNvPr>
          <p:cNvSpPr>
            <a:spLocks noGrp="1"/>
          </p:cNvSpPr>
          <p:nvPr/>
        </p:nvSpPr>
        <p:spPr>
          <a:xfrm>
            <a:off x="400050" y="3562350"/>
            <a:ext cx="113919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4401FDC-5CC6-4907-96E1-B9F299844F61}"/>
              </a:ext>
            </a:extLst>
          </p:cNvPr>
          <p:cNvSpPr>
            <a:spLocks noGrp="1"/>
          </p:cNvSpPr>
          <p:nvPr/>
        </p:nvSpPr>
        <p:spPr>
          <a:xfrm>
            <a:off x="628650" y="38004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275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取込</a:t>
            </a:r>
            <a:endParaRPr sz="127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7CA1CDC-5A64-4821-A2A7-0A89793A7D59}"/>
              </a:ext>
            </a:extLst>
          </p:cNvPr>
          <p:cNvSpPr>
            <a:spLocks noGrp="1"/>
          </p:cNvSpPr>
          <p:nvPr/>
        </p:nvSpPr>
        <p:spPr>
          <a:xfrm>
            <a:off x="2419350" y="3785254"/>
            <a:ext cx="2381250" cy="314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Excel・CSVによるデータ取込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77445E5-E1BA-498D-B79A-1686A0E8D3B3}"/>
              </a:ext>
            </a:extLst>
          </p:cNvPr>
          <p:cNvSpPr>
            <a:spLocks noGrp="1"/>
          </p:cNvSpPr>
          <p:nvPr/>
        </p:nvSpPr>
        <p:spPr>
          <a:xfrm>
            <a:off x="5372100" y="3710232"/>
            <a:ext cx="559127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外部ファイル形式への依存状況を整理し、変更時の影響範囲を把握することを推奨します。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34759C2-1128-4B6D-BEE8-959147352354}"/>
              </a:ext>
            </a:extLst>
          </p:cNvPr>
          <p:cNvSpPr>
            <a:spLocks noGrp="1"/>
          </p:cNvSpPr>
          <p:nvPr/>
        </p:nvSpPr>
        <p:spPr>
          <a:xfrm>
            <a:off x="400050" y="4267200"/>
            <a:ext cx="11391900" cy="704850"/>
          </a:xfrm>
          <a:prstGeom prst="rect">
            <a:avLst/>
          </a:prstGeom>
          <a:solidFill>
            <a:srgbClr val="F2F5F7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589FF4F-55B8-431A-80EC-9375A347B22F}"/>
              </a:ext>
            </a:extLst>
          </p:cNvPr>
          <p:cNvSpPr>
            <a:spLocks noGrp="1"/>
          </p:cNvSpPr>
          <p:nvPr/>
        </p:nvSpPr>
        <p:spPr>
          <a:xfrm>
            <a:off x="628650" y="45053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DB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09E7522-A2E9-4DB8-AA72-13BEFB4EC3A7}"/>
              </a:ext>
            </a:extLst>
          </p:cNvPr>
          <p:cNvSpPr>
            <a:spLocks noGrp="1"/>
          </p:cNvSpPr>
          <p:nvPr/>
        </p:nvSpPr>
        <p:spPr>
          <a:xfrm>
            <a:off x="2419350" y="4400550"/>
            <a:ext cx="2381250" cy="4448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Connection / Recordset の</a:t>
            </a:r>
            <a:endParaRPr lang="en-US" altLang="ja-JP" sz="12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管理に改善余地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18FE8B7-2025-4437-AB6C-10A119D020F8}"/>
              </a:ext>
            </a:extLst>
          </p:cNvPr>
          <p:cNvSpPr>
            <a:spLocks noGrp="1"/>
          </p:cNvSpPr>
          <p:nvPr/>
        </p:nvSpPr>
        <p:spPr>
          <a:xfrm>
            <a:off x="5372100" y="4505325"/>
            <a:ext cx="609089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接続管理の実装を見直し、現状改善を推奨します。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0687EF4E-A088-4894-9B00-AE4B5C20841D}"/>
              </a:ext>
            </a:extLst>
          </p:cNvPr>
          <p:cNvSpPr>
            <a:spLocks noGrp="1"/>
          </p:cNvSpPr>
          <p:nvPr/>
        </p:nvSpPr>
        <p:spPr>
          <a:xfrm>
            <a:off x="400050" y="4972050"/>
            <a:ext cx="113919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41FEF19-4A0F-4DC2-8ECD-A1C984BFDDEB}"/>
              </a:ext>
            </a:extLst>
          </p:cNvPr>
          <p:cNvSpPr>
            <a:spLocks noGrp="1"/>
          </p:cNvSpPr>
          <p:nvPr/>
        </p:nvSpPr>
        <p:spPr>
          <a:xfrm>
            <a:off x="628650" y="52101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275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運用</a:t>
            </a:r>
            <a:endParaRPr sz="127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9F522C4-644A-4B7A-A264-6D2F0B6075B3}"/>
              </a:ext>
            </a:extLst>
          </p:cNvPr>
          <p:cNvSpPr>
            <a:spLocks noGrp="1"/>
          </p:cNvSpPr>
          <p:nvPr/>
        </p:nvSpPr>
        <p:spPr>
          <a:xfrm>
            <a:off x="2419350" y="5194954"/>
            <a:ext cx="2284625" cy="3552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固定パスや運用依存の設定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D96734D-8114-42A0-8319-22AAE07E025C}"/>
              </a:ext>
            </a:extLst>
          </p:cNvPr>
          <p:cNvSpPr>
            <a:spLocks noGrp="1"/>
          </p:cNvSpPr>
          <p:nvPr/>
        </p:nvSpPr>
        <p:spPr>
          <a:xfrm>
            <a:off x="5372100" y="52101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環境依存箇所を整理し、運用手順とあわせて見直すことを推奨します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7527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7746401-1DD6-4E9D-BC80-CB81B17D0626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5. </a:t>
            </a:r>
            <a:r>
              <a:rPr sz="2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改善方針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優先的に取り組むべき改善方針を整理しました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E7759689-00CF-4CFA-8663-A8722AE3B5B9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F4C6EF4D-8E61-41B4-A0C9-B3E4848A53F2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49530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535563A-940C-46FF-BBE8-0A5B03C9BE1F}"/>
              </a:ext>
            </a:extLst>
          </p:cNvPr>
          <p:cNvSpPr>
            <a:spLocks noGrp="1"/>
          </p:cNvSpPr>
          <p:nvPr/>
        </p:nvSpPr>
        <p:spPr>
          <a:xfrm>
            <a:off x="933450" y="21336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1055DDE-ABB4-4931-A0B2-BF975747EB2D}"/>
              </a:ext>
            </a:extLst>
          </p:cNvPr>
          <p:cNvSpPr>
            <a:spLocks noGrp="1"/>
          </p:cNvSpPr>
          <p:nvPr/>
        </p:nvSpPr>
        <p:spPr>
          <a:xfrm>
            <a:off x="933450" y="22479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6D74DA4-8ADC-431A-BDE9-CF7A06F17B85}"/>
              </a:ext>
            </a:extLst>
          </p:cNvPr>
          <p:cNvSpPr>
            <a:spLocks noGrp="1"/>
          </p:cNvSpPr>
          <p:nvPr/>
        </p:nvSpPr>
        <p:spPr>
          <a:xfrm>
            <a:off x="1828800" y="21336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資料化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6933653-67A8-4BE8-88F4-26F90AC63775}"/>
              </a:ext>
            </a:extLst>
          </p:cNvPr>
          <p:cNvSpPr>
            <a:spLocks noGrp="1"/>
          </p:cNvSpPr>
          <p:nvPr/>
        </p:nvSpPr>
        <p:spPr>
          <a:xfrm>
            <a:off x="1828800" y="25336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画面、帳票、DB、バッチ、外部連携を同じ粒度で一覧化する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3902CDB-451E-4D03-80C3-7ED6E635B6AB}"/>
              </a:ext>
            </a:extLst>
          </p:cNvPr>
          <p:cNvSpPr>
            <a:spLocks noGrp="1"/>
          </p:cNvSpPr>
          <p:nvPr/>
        </p:nvSpPr>
        <p:spPr>
          <a:xfrm>
            <a:off x="6400800" y="1790700"/>
            <a:ext cx="49530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B37D0F20-1CCB-4E17-8BF5-AD971FBCD2F2}"/>
              </a:ext>
            </a:extLst>
          </p:cNvPr>
          <p:cNvSpPr>
            <a:spLocks noGrp="1"/>
          </p:cNvSpPr>
          <p:nvPr/>
        </p:nvSpPr>
        <p:spPr>
          <a:xfrm>
            <a:off x="6667500" y="21336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93757D8-13CE-4A62-9814-50709B124F86}"/>
              </a:ext>
            </a:extLst>
          </p:cNvPr>
          <p:cNvSpPr>
            <a:spLocks noGrp="1"/>
          </p:cNvSpPr>
          <p:nvPr/>
        </p:nvSpPr>
        <p:spPr>
          <a:xfrm>
            <a:off x="6667500" y="22479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1CD72F17-A1DE-475D-A15D-0E8B3F7FC6B5}"/>
              </a:ext>
            </a:extLst>
          </p:cNvPr>
          <p:cNvSpPr>
            <a:spLocks noGrp="1"/>
          </p:cNvSpPr>
          <p:nvPr/>
        </p:nvSpPr>
        <p:spPr>
          <a:xfrm>
            <a:off x="7562850" y="21336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依存関係整理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9B7E197-6BB2-4135-A456-0D4A1C69DABE}"/>
              </a:ext>
            </a:extLst>
          </p:cNvPr>
          <p:cNvSpPr>
            <a:spLocks noGrp="1"/>
          </p:cNvSpPr>
          <p:nvPr/>
        </p:nvSpPr>
        <p:spPr>
          <a:xfrm>
            <a:off x="7562850" y="25336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VB6、Access、Excel、SQLのつながりを処理単位で確認する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474A63CF-5451-4774-831D-A005B9A8B4A8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49530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D551BED-706D-4756-885D-0EE5E5F5E822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BDF37EB-9352-4C78-BA04-8840A9958022}"/>
              </a:ext>
            </a:extLst>
          </p:cNvPr>
          <p:cNvSpPr>
            <a:spLocks noGrp="1"/>
          </p:cNvSpPr>
          <p:nvPr/>
        </p:nvSpPr>
        <p:spPr>
          <a:xfrm>
            <a:off x="933450" y="4267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338B989-7561-4044-889D-2CF72104357A}"/>
              </a:ext>
            </a:extLst>
          </p:cNvPr>
          <p:cNvSpPr>
            <a:spLocks noGrp="1"/>
          </p:cNvSpPr>
          <p:nvPr/>
        </p:nvSpPr>
        <p:spPr>
          <a:xfrm>
            <a:off x="1828800" y="41529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運用の明文化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31E4282-CB07-4DC8-B1FE-CF9415084A56}"/>
              </a:ext>
            </a:extLst>
          </p:cNvPr>
          <p:cNvSpPr>
            <a:spLocks noGrp="1"/>
          </p:cNvSpPr>
          <p:nvPr/>
        </p:nvSpPr>
        <p:spPr>
          <a:xfrm>
            <a:off x="1828800" y="45529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月末処理、再取込、例外対応の判断基準を残す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5912D136-4416-495B-96D0-22EEB293A51D}"/>
              </a:ext>
            </a:extLst>
          </p:cNvPr>
          <p:cNvSpPr>
            <a:spLocks noGrp="1"/>
          </p:cNvSpPr>
          <p:nvPr/>
        </p:nvSpPr>
        <p:spPr>
          <a:xfrm>
            <a:off x="6400800" y="3810000"/>
            <a:ext cx="49530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28395F4D-DFCB-4F74-97D8-12552A430C29}"/>
              </a:ext>
            </a:extLst>
          </p:cNvPr>
          <p:cNvSpPr>
            <a:spLocks noGrp="1"/>
          </p:cNvSpPr>
          <p:nvPr/>
        </p:nvSpPr>
        <p:spPr>
          <a:xfrm>
            <a:off x="6667500" y="41529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0A0506F-6900-4583-9A6B-232EB527E130}"/>
              </a:ext>
            </a:extLst>
          </p:cNvPr>
          <p:cNvSpPr>
            <a:spLocks noGrp="1"/>
          </p:cNvSpPr>
          <p:nvPr/>
        </p:nvSpPr>
        <p:spPr>
          <a:xfrm>
            <a:off x="6667500" y="4267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49C8A5D-6531-4105-ADB8-66B2C85B914F}"/>
              </a:ext>
            </a:extLst>
          </p:cNvPr>
          <p:cNvSpPr>
            <a:spLocks noGrp="1"/>
          </p:cNvSpPr>
          <p:nvPr/>
        </p:nvSpPr>
        <p:spPr>
          <a:xfrm>
            <a:off x="7562850" y="41529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改修範囲の分割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0C63B93-2F9D-43A7-91A1-C4C1C2218C4F}"/>
              </a:ext>
            </a:extLst>
          </p:cNvPr>
          <p:cNvSpPr>
            <a:spLocks noGrp="1"/>
          </p:cNvSpPr>
          <p:nvPr/>
        </p:nvSpPr>
        <p:spPr>
          <a:xfrm>
            <a:off x="7562850" y="45529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一括刷新ではなく、帳票・取込・DB周辺から段階的に整える</a:t>
            </a:r>
          </a:p>
        </p:txBody>
      </p:sp>
    </p:spTree>
    <p:extLst>
      <p:ext uri="{BB962C8B-B14F-4D97-AF65-F5344CB8AC3E}">
        <p14:creationId xmlns:p14="http://schemas.microsoft.com/office/powerpoint/2010/main" val="1786569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四角形: 角を丸くする 68">
            <a:extLst>
              <a:ext uri="{FF2B5EF4-FFF2-40B4-BE49-F238E27FC236}">
                <a16:creationId xmlns:a16="http://schemas.microsoft.com/office/drawing/2014/main" id="{68967342-451D-D28D-FEE1-9A3DEE5C624A}"/>
              </a:ext>
            </a:extLst>
          </p:cNvPr>
          <p:cNvSpPr>
            <a:spLocks noGrp="1"/>
          </p:cNvSpPr>
          <p:nvPr/>
        </p:nvSpPr>
        <p:spPr>
          <a:xfrm>
            <a:off x="1238250" y="1598828"/>
            <a:ext cx="97155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2DC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09A25EFC-99AE-78AD-2581-CF88D39A6415}"/>
              </a:ext>
            </a:extLst>
          </p:cNvPr>
          <p:cNvSpPr>
            <a:spLocks noGrp="1"/>
          </p:cNvSpPr>
          <p:nvPr/>
        </p:nvSpPr>
        <p:spPr>
          <a:xfrm>
            <a:off x="1238250" y="1598828"/>
            <a:ext cx="76200" cy="742950"/>
          </a:xfrm>
          <a:prstGeom prst="roundRect">
            <a:avLst>
              <a:gd name="adj" fmla="val 50000"/>
            </a:avLst>
          </a:prstGeom>
          <a:solidFill>
            <a:srgbClr val="0F8378"/>
          </a:solidFill>
          <a:ln w="0">
            <a:noFill/>
            <a:prstDash val="solid"/>
          </a:ln>
        </p:spPr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1F747B10-6A9F-8647-DD90-A24A1529E8F0}"/>
              </a:ext>
            </a:extLst>
          </p:cNvPr>
          <p:cNvSpPr>
            <a:spLocks noGrp="1"/>
          </p:cNvSpPr>
          <p:nvPr/>
        </p:nvSpPr>
        <p:spPr>
          <a:xfrm>
            <a:off x="1504950" y="1789328"/>
            <a:ext cx="552450" cy="342900"/>
          </a:xfrm>
          <a:prstGeom prst="roundRect">
            <a:avLst>
              <a:gd name="adj" fmla="val 50000"/>
            </a:avLst>
          </a:prstGeom>
          <a:solidFill>
            <a:srgbClr val="0F8378"/>
          </a:solidFill>
          <a:ln w="0">
            <a:noFill/>
            <a:prstDash val="solid"/>
          </a:ln>
        </p:spPr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06C7F60A-255C-155A-27F0-190231CC584B}"/>
              </a:ext>
            </a:extLst>
          </p:cNvPr>
          <p:cNvSpPr>
            <a:spLocks noGrp="1"/>
          </p:cNvSpPr>
          <p:nvPr/>
        </p:nvSpPr>
        <p:spPr>
          <a:xfrm>
            <a:off x="1504950" y="1875053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Step1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98543D71-CB9D-A544-6F95-22FFF1A29FA7}"/>
              </a:ext>
            </a:extLst>
          </p:cNvPr>
          <p:cNvSpPr>
            <a:spLocks noGrp="1"/>
          </p:cNvSpPr>
          <p:nvPr/>
        </p:nvSpPr>
        <p:spPr>
          <a:xfrm>
            <a:off x="2266950" y="177027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現状把握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11192396-6BFF-056A-DE42-0B0577D7C75C}"/>
              </a:ext>
            </a:extLst>
          </p:cNvPr>
          <p:cNvSpPr>
            <a:spLocks noGrp="1"/>
          </p:cNvSpPr>
          <p:nvPr/>
        </p:nvSpPr>
        <p:spPr>
          <a:xfrm>
            <a:off x="2266950" y="2056028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0F837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F8378"/>
                </a:solidFill>
                <a:latin typeface="Yu Gothic"/>
                <a:ea typeface="Yu Gothic"/>
                <a:cs typeface="Yu Gothic"/>
              </a:rPr>
              <a:t>2〜3日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CF1875FF-F67E-4492-6DB4-CC6C4548F59D}"/>
              </a:ext>
            </a:extLst>
          </p:cNvPr>
          <p:cNvSpPr>
            <a:spLocks noGrp="1"/>
          </p:cNvSpPr>
          <p:nvPr/>
        </p:nvSpPr>
        <p:spPr>
          <a:xfrm>
            <a:off x="4953000" y="1770278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・ソースコード、DB、帳票、バッチを整理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・利用技術・外部連携・運用資産を確認</a:t>
            </a:r>
          </a:p>
        </p:txBody>
      </p:sp>
      <p:sp>
        <p:nvSpPr>
          <p:cNvPr id="76" name="直線コネクタ 75">
            <a:extLst>
              <a:ext uri="{FF2B5EF4-FFF2-40B4-BE49-F238E27FC236}">
                <a16:creationId xmlns:a16="http://schemas.microsoft.com/office/drawing/2014/main" id="{3FF29FE7-BE70-541F-BEE9-2003C0D92019}"/>
              </a:ext>
            </a:extLst>
          </p:cNvPr>
          <p:cNvSpPr>
            <a:spLocks noGrp="1"/>
          </p:cNvSpPr>
          <p:nvPr/>
        </p:nvSpPr>
        <p:spPr>
          <a:xfrm>
            <a:off x="6096000" y="2370353"/>
            <a:ext cx="0" cy="57150"/>
          </a:xfrm>
          <a:prstGeom prst="line">
            <a:avLst/>
          </a:prstGeom>
          <a:noFill/>
          <a:ln w="19050">
            <a:solidFill>
              <a:srgbClr val="0F8378"/>
            </a:solidFill>
            <a:prstDash val="solid"/>
          </a:ln>
        </p:spPr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D6B821D4-418B-B18F-A95A-C36565385D40}"/>
              </a:ext>
            </a:extLst>
          </p:cNvPr>
          <p:cNvSpPr>
            <a:spLocks noGrp="1"/>
          </p:cNvSpPr>
          <p:nvPr/>
        </p:nvSpPr>
        <p:spPr>
          <a:xfrm>
            <a:off x="1238250" y="2475128"/>
            <a:ext cx="971550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2DC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5D8C8DAB-824F-32B6-A8B8-689452B80FD0}"/>
              </a:ext>
            </a:extLst>
          </p:cNvPr>
          <p:cNvSpPr>
            <a:spLocks noGrp="1"/>
          </p:cNvSpPr>
          <p:nvPr/>
        </p:nvSpPr>
        <p:spPr>
          <a:xfrm>
            <a:off x="1238250" y="2475128"/>
            <a:ext cx="76200" cy="857250"/>
          </a:xfrm>
          <a:prstGeom prst="roundRect">
            <a:avLst>
              <a:gd name="adj" fmla="val 50000"/>
            </a:avLst>
          </a:prstGeom>
          <a:solidFill>
            <a:srgbClr val="1D5278"/>
          </a:solidFill>
          <a:ln w="0">
            <a:noFill/>
            <a:prstDash val="solid"/>
          </a:ln>
        </p:spPr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31626880-B58C-06A5-486F-D2DF753B6FCD}"/>
              </a:ext>
            </a:extLst>
          </p:cNvPr>
          <p:cNvSpPr>
            <a:spLocks noGrp="1"/>
          </p:cNvSpPr>
          <p:nvPr/>
        </p:nvSpPr>
        <p:spPr>
          <a:xfrm>
            <a:off x="1504950" y="2665628"/>
            <a:ext cx="552450" cy="342900"/>
          </a:xfrm>
          <a:prstGeom prst="roundRect">
            <a:avLst>
              <a:gd name="adj" fmla="val 50000"/>
            </a:avLst>
          </a:prstGeom>
          <a:solidFill>
            <a:srgbClr val="1D5278"/>
          </a:solidFill>
          <a:ln w="0">
            <a:noFill/>
            <a:prstDash val="solid"/>
          </a:ln>
        </p:spPr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7D12A5FF-1E92-420C-2AD1-E9F852595A8A}"/>
              </a:ext>
            </a:extLst>
          </p:cNvPr>
          <p:cNvSpPr>
            <a:spLocks noGrp="1"/>
          </p:cNvSpPr>
          <p:nvPr/>
        </p:nvSpPr>
        <p:spPr>
          <a:xfrm>
            <a:off x="1504950" y="2751353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Step2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2EED0B9D-3111-4160-4E7A-1BA91CA4A57E}"/>
              </a:ext>
            </a:extLst>
          </p:cNvPr>
          <p:cNvSpPr>
            <a:spLocks noGrp="1"/>
          </p:cNvSpPr>
          <p:nvPr/>
        </p:nvSpPr>
        <p:spPr>
          <a:xfrm>
            <a:off x="2266950" y="264657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見える化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64BB60B9-96DF-7B1A-A39D-F73EA07842DA}"/>
              </a:ext>
            </a:extLst>
          </p:cNvPr>
          <p:cNvSpPr>
            <a:spLocks noGrp="1"/>
          </p:cNvSpPr>
          <p:nvPr/>
        </p:nvSpPr>
        <p:spPr>
          <a:xfrm>
            <a:off x="2266950" y="2932328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D527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D5278"/>
                </a:solidFill>
                <a:latin typeface="Yu Gothic"/>
                <a:ea typeface="Yu Gothic"/>
                <a:cs typeface="Yu Gothic"/>
              </a:rPr>
              <a:t>3〜5日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A78FEAF4-18B9-917E-3E3B-211057AFEDF8}"/>
              </a:ext>
            </a:extLst>
          </p:cNvPr>
          <p:cNvSpPr>
            <a:spLocks noGrp="1"/>
          </p:cNvSpPr>
          <p:nvPr/>
        </p:nvSpPr>
        <p:spPr>
          <a:xfrm>
            <a:off x="4953000" y="2646578"/>
            <a:ext cx="5334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・システム構成を整理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・依存関係・影響範囲を可視化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・ドキュメント整備状況を確認</a:t>
            </a:r>
          </a:p>
        </p:txBody>
      </p:sp>
      <p:sp>
        <p:nvSpPr>
          <p:cNvPr id="85" name="直線コネクタ 84">
            <a:extLst>
              <a:ext uri="{FF2B5EF4-FFF2-40B4-BE49-F238E27FC236}">
                <a16:creationId xmlns:a16="http://schemas.microsoft.com/office/drawing/2014/main" id="{F88BD1E1-28A7-F89E-628A-32BB02948DA8}"/>
              </a:ext>
            </a:extLst>
          </p:cNvPr>
          <p:cNvSpPr>
            <a:spLocks noGrp="1"/>
          </p:cNvSpPr>
          <p:nvPr/>
        </p:nvSpPr>
        <p:spPr>
          <a:xfrm>
            <a:off x="6096000" y="3360953"/>
            <a:ext cx="0" cy="57150"/>
          </a:xfrm>
          <a:prstGeom prst="line">
            <a:avLst/>
          </a:prstGeom>
          <a:noFill/>
          <a:ln w="19050">
            <a:solidFill>
              <a:srgbClr val="0F8378"/>
            </a:solidFill>
            <a:prstDash val="solid"/>
          </a:ln>
        </p:spPr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2D90C133-D1AD-3FC7-9D05-23C2ACB66104}"/>
              </a:ext>
            </a:extLst>
          </p:cNvPr>
          <p:cNvSpPr>
            <a:spLocks noGrp="1"/>
          </p:cNvSpPr>
          <p:nvPr/>
        </p:nvSpPr>
        <p:spPr>
          <a:xfrm>
            <a:off x="5981700" y="3313328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0F8378"/>
                </a:solidFill>
                <a:latin typeface="Yu Gothic"/>
                <a:ea typeface="Yu Gothic"/>
                <a:cs typeface="Yu Gothic"/>
              </a:defRPr>
            </a:pPr>
            <a:endParaRPr sz="1350" b="1" dirty="0">
              <a:solidFill>
                <a:srgbClr val="0F837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3647E5BF-5E9C-A229-B93F-F434B98A73DF}"/>
              </a:ext>
            </a:extLst>
          </p:cNvPr>
          <p:cNvSpPr>
            <a:spLocks noGrp="1"/>
          </p:cNvSpPr>
          <p:nvPr/>
        </p:nvSpPr>
        <p:spPr>
          <a:xfrm>
            <a:off x="1238250" y="3465728"/>
            <a:ext cx="971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DC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1ACD972E-4D8E-1933-4C23-043E0D6B9B4C}"/>
              </a:ext>
            </a:extLst>
          </p:cNvPr>
          <p:cNvSpPr>
            <a:spLocks noGrp="1"/>
          </p:cNvSpPr>
          <p:nvPr/>
        </p:nvSpPr>
        <p:spPr>
          <a:xfrm>
            <a:off x="1238250" y="3465728"/>
            <a:ext cx="76200" cy="952500"/>
          </a:xfrm>
          <a:prstGeom prst="roundRect">
            <a:avLst>
              <a:gd name="adj" fmla="val 50000"/>
            </a:avLst>
          </a:prstGeom>
          <a:solidFill>
            <a:srgbClr val="DF6B22"/>
          </a:solidFill>
          <a:ln w="0">
            <a:noFill/>
            <a:prstDash val="solid"/>
          </a:ln>
        </p:spPr>
      </p:sp>
      <p:sp>
        <p:nvSpPr>
          <p:cNvPr id="89" name="四角形: 角を丸くする 88">
            <a:extLst>
              <a:ext uri="{FF2B5EF4-FFF2-40B4-BE49-F238E27FC236}">
                <a16:creationId xmlns:a16="http://schemas.microsoft.com/office/drawing/2014/main" id="{006871CF-77AA-2A68-68CC-51B81FA78F1C}"/>
              </a:ext>
            </a:extLst>
          </p:cNvPr>
          <p:cNvSpPr>
            <a:spLocks noGrp="1"/>
          </p:cNvSpPr>
          <p:nvPr/>
        </p:nvSpPr>
        <p:spPr>
          <a:xfrm>
            <a:off x="1504950" y="3656228"/>
            <a:ext cx="552450" cy="342900"/>
          </a:xfrm>
          <a:prstGeom prst="roundRect">
            <a:avLst>
              <a:gd name="adj" fmla="val 50000"/>
            </a:avLst>
          </a:prstGeom>
          <a:solidFill>
            <a:srgbClr val="DF6B22"/>
          </a:solidFill>
          <a:ln w="0">
            <a:noFill/>
            <a:prstDash val="solid"/>
          </a:ln>
        </p:spPr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FA43A830-11AD-9618-B84F-9843640EE97F}"/>
              </a:ext>
            </a:extLst>
          </p:cNvPr>
          <p:cNvSpPr>
            <a:spLocks noGrp="1"/>
          </p:cNvSpPr>
          <p:nvPr/>
        </p:nvSpPr>
        <p:spPr>
          <a:xfrm>
            <a:off x="1504950" y="3741953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Step3</a:t>
            </a: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A88B202D-E724-67A0-D1E2-ADB369383E49}"/>
              </a:ext>
            </a:extLst>
          </p:cNvPr>
          <p:cNvSpPr>
            <a:spLocks noGrp="1"/>
          </p:cNvSpPr>
          <p:nvPr/>
        </p:nvSpPr>
        <p:spPr>
          <a:xfrm>
            <a:off x="2266950" y="363717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改善方針の整理</a:t>
            </a: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C4AA4171-7856-5210-1DE1-CEBA3B3FFC2D}"/>
              </a:ext>
            </a:extLst>
          </p:cNvPr>
          <p:cNvSpPr>
            <a:spLocks noGrp="1"/>
          </p:cNvSpPr>
          <p:nvPr/>
        </p:nvSpPr>
        <p:spPr>
          <a:xfrm>
            <a:off x="2266950" y="3922928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DF6B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F6B22"/>
                </a:solidFill>
                <a:latin typeface="Yu Gothic"/>
                <a:ea typeface="Yu Gothic"/>
                <a:cs typeface="Yu Gothic"/>
              </a:rPr>
              <a:t>約1週間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67606547-7E8C-55F8-CD5B-8E7EE90D903D}"/>
              </a:ext>
            </a:extLst>
          </p:cNvPr>
          <p:cNvSpPr>
            <a:spLocks noGrp="1"/>
          </p:cNvSpPr>
          <p:nvPr/>
        </p:nvSpPr>
        <p:spPr>
          <a:xfrm>
            <a:off x="4953000" y="3637178"/>
            <a:ext cx="5334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・優先的に確認すべき資産を整理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・現状改善・段階的改修・維持運用を比較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・リプレースありきではなく最適な方針を整理</a:t>
            </a:r>
          </a:p>
        </p:txBody>
      </p:sp>
      <p:sp>
        <p:nvSpPr>
          <p:cNvPr id="94" name="直線コネクタ 93">
            <a:extLst>
              <a:ext uri="{FF2B5EF4-FFF2-40B4-BE49-F238E27FC236}">
                <a16:creationId xmlns:a16="http://schemas.microsoft.com/office/drawing/2014/main" id="{08F22F5B-EC2A-4233-D6C0-B7D8657D2F42}"/>
              </a:ext>
            </a:extLst>
          </p:cNvPr>
          <p:cNvSpPr>
            <a:spLocks noGrp="1"/>
          </p:cNvSpPr>
          <p:nvPr/>
        </p:nvSpPr>
        <p:spPr>
          <a:xfrm>
            <a:off x="6096000" y="4446803"/>
            <a:ext cx="0" cy="57150"/>
          </a:xfrm>
          <a:prstGeom prst="line">
            <a:avLst/>
          </a:prstGeom>
          <a:noFill/>
          <a:ln w="19050">
            <a:solidFill>
              <a:srgbClr val="0F8378"/>
            </a:solidFill>
            <a:prstDash val="solid"/>
          </a:ln>
        </p:spPr>
      </p: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3A41C249-E24C-FC7E-48F3-F80516DE8E8D}"/>
              </a:ext>
            </a:extLst>
          </p:cNvPr>
          <p:cNvSpPr>
            <a:spLocks noGrp="1"/>
          </p:cNvSpPr>
          <p:nvPr/>
        </p:nvSpPr>
        <p:spPr>
          <a:xfrm>
            <a:off x="1238250" y="4551578"/>
            <a:ext cx="971550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2DC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E2A4A5B3-58DC-E89A-6403-E2FD9F39400C}"/>
              </a:ext>
            </a:extLst>
          </p:cNvPr>
          <p:cNvSpPr>
            <a:spLocks noGrp="1"/>
          </p:cNvSpPr>
          <p:nvPr/>
        </p:nvSpPr>
        <p:spPr>
          <a:xfrm>
            <a:off x="1238250" y="4551578"/>
            <a:ext cx="76200" cy="857250"/>
          </a:xfrm>
          <a:prstGeom prst="roundRect">
            <a:avLst>
              <a:gd name="adj" fmla="val 50000"/>
            </a:avLst>
          </a:prstGeom>
          <a:solidFill>
            <a:srgbClr val="5B4B8F"/>
          </a:solidFill>
          <a:ln w="0">
            <a:noFill/>
            <a:prstDash val="solid"/>
          </a:ln>
        </p:spPr>
      </p:sp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7BA4040E-F6C7-4345-BD2E-0AB8B7330697}"/>
              </a:ext>
            </a:extLst>
          </p:cNvPr>
          <p:cNvSpPr>
            <a:spLocks noGrp="1"/>
          </p:cNvSpPr>
          <p:nvPr/>
        </p:nvSpPr>
        <p:spPr>
          <a:xfrm>
            <a:off x="1504950" y="4742078"/>
            <a:ext cx="552450" cy="342900"/>
          </a:xfrm>
          <a:prstGeom prst="roundRect">
            <a:avLst>
              <a:gd name="adj" fmla="val 50000"/>
            </a:avLst>
          </a:prstGeom>
          <a:solidFill>
            <a:srgbClr val="5B4B8F"/>
          </a:solidFill>
          <a:ln w="0">
            <a:noFill/>
            <a:prstDash val="solid"/>
          </a:ln>
        </p:spPr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E42E137E-0288-E6C4-1C16-DC1055223398}"/>
              </a:ext>
            </a:extLst>
          </p:cNvPr>
          <p:cNvSpPr>
            <a:spLocks noGrp="1"/>
          </p:cNvSpPr>
          <p:nvPr/>
        </p:nvSpPr>
        <p:spPr>
          <a:xfrm>
            <a:off x="1504950" y="4827803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Step4</a:t>
            </a: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4AC2A03C-6734-E95B-A760-5E327DC165A5}"/>
              </a:ext>
            </a:extLst>
          </p:cNvPr>
          <p:cNvSpPr>
            <a:spLocks noGrp="1"/>
          </p:cNvSpPr>
          <p:nvPr/>
        </p:nvSpPr>
        <p:spPr>
          <a:xfrm>
            <a:off x="2266950" y="472302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実施計画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E5A9A49A-60C8-F49A-90F0-941DAA761B1E}"/>
              </a:ext>
            </a:extLst>
          </p:cNvPr>
          <p:cNvSpPr>
            <a:spLocks noGrp="1"/>
          </p:cNvSpPr>
          <p:nvPr/>
        </p:nvSpPr>
        <p:spPr>
          <a:xfrm>
            <a:off x="2266950" y="5008778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B4B8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5B4B8F"/>
                </a:solidFill>
                <a:latin typeface="Yu Gothic"/>
                <a:ea typeface="Yu Gothic"/>
                <a:cs typeface="Yu Gothic"/>
              </a:rPr>
              <a:t>1〜2週間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0E05328E-1288-86CB-19B2-AF0BAD72EFC9}"/>
              </a:ext>
            </a:extLst>
          </p:cNvPr>
          <p:cNvSpPr>
            <a:spLocks noGrp="1"/>
          </p:cNvSpPr>
          <p:nvPr/>
        </p:nvSpPr>
        <p:spPr>
          <a:xfrm>
            <a:off x="4953000" y="4723028"/>
            <a:ext cx="5334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 dirty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sz="1050" b="0" dirty="0" err="1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優先順位を決定</a:t>
            </a:r>
            <a:endParaRPr sz="1050" b="0" dirty="0">
              <a:solidFill>
                <a:srgbClr val="4B5661"/>
              </a:solidFill>
              <a:latin typeface="Yu Gothic"/>
              <a:ea typeface="Yu Gothic"/>
              <a:cs typeface="Yu Gothic"/>
            </a:endParaRP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 dirty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sz="1050" b="0" dirty="0" err="1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必要な改善から着手</a:t>
            </a:r>
            <a:endParaRPr sz="1050" b="0" dirty="0">
              <a:solidFill>
                <a:srgbClr val="4B5661"/>
              </a:solidFill>
              <a:latin typeface="Yu Gothic"/>
              <a:ea typeface="Yu Gothic"/>
              <a:cs typeface="Yu Gothic"/>
            </a:endParaRP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 dirty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sz="1050" b="0" dirty="0" err="1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段階的な改</a:t>
            </a:r>
            <a:r>
              <a:rPr lang="ja-JP" altLang="en-US" sz="1050" b="0" dirty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善</a:t>
            </a:r>
            <a:r>
              <a:rPr sz="1050" b="0" dirty="0" err="1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計画を整理</a:t>
            </a:r>
            <a:endParaRPr sz="1050" b="0" dirty="0">
              <a:solidFill>
                <a:srgbClr val="4B5661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A6241BF3-5332-44BF-AC4A-9BB5A83778F1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6. </a:t>
            </a:r>
            <a:r>
              <a:rPr lang="ja-JP" alt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ロードマップ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段階的な改善計画を整理することをお勧めします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9ECEA0BC-B9F7-4AF7-498C-A4EDD2A76771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80606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6F7F46B-9A5A-42D7-BA33-4E87BE143C6A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7. </a:t>
            </a:r>
            <a:r>
              <a:rPr sz="2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まとめ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現状を整理することで、次の一歩が明確になります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A94D808-FD50-4A33-93A0-F4FF1DFF138D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FE529ECC-B05F-47D3-86AC-3F8B58B6DF27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9975850" cy="1912683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0F605079-83ED-493F-8098-0A5C73599890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66675" cy="1912683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A90DE36-0585-4E22-B467-B87E9288E84E}"/>
              </a:ext>
            </a:extLst>
          </p:cNvPr>
          <p:cNvSpPr>
            <a:spLocks noGrp="1"/>
          </p:cNvSpPr>
          <p:nvPr/>
        </p:nvSpPr>
        <p:spPr>
          <a:xfrm>
            <a:off x="1101090" y="1972499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8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今回の整理で見えたこと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3BF0BFE-2D08-4E53-B00A-1931A2D4AA18}"/>
              </a:ext>
            </a:extLst>
          </p:cNvPr>
          <p:cNvSpPr>
            <a:spLocks noGrp="1"/>
          </p:cNvSpPr>
          <p:nvPr/>
        </p:nvSpPr>
        <p:spPr>
          <a:xfrm>
            <a:off x="1101090" y="2432414"/>
            <a:ext cx="8756649" cy="98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基本設計書などは不足している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残存</a:t>
            </a:r>
            <a:r>
              <a:rPr lang="ja-JP" altLang="en-US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資料から現状把握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は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可能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lang="ja-JP" altLang="en-US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処理が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V</a:t>
            </a:r>
            <a:r>
              <a:rPr 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B</a:t>
            </a:r>
            <a:r>
              <a:rPr lang="en-US" altLang="ja-JP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Access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Excel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SQL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などの複数技術に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分散している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一覧化と依存関係整理が有効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7E1A03F-A586-4414-B132-53DEA6173B20}"/>
              </a:ext>
            </a:extLst>
          </p:cNvPr>
          <p:cNvSpPr>
            <a:spLocks noGrp="1"/>
          </p:cNvSpPr>
          <p:nvPr/>
        </p:nvSpPr>
        <p:spPr>
          <a:xfrm>
            <a:off x="6491287" y="3437183"/>
            <a:ext cx="3990975" cy="11191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endParaRPr sz="157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37" name="Picture 1" descr="ChatGPT Image 2026年6月18日 14_56_46 (小).png">
            <a:extLst>
              <a:ext uri="{FF2B5EF4-FFF2-40B4-BE49-F238E27FC236}">
                <a16:creationId xmlns:a16="http://schemas.microsoft.com/office/drawing/2014/main" id="{B2F1DC12-1D2F-9171-803F-254E0F0AE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087" y="5323212"/>
            <a:ext cx="721930" cy="721930"/>
          </a:xfrm>
          <a:prstGeom prst="rect">
            <a:avLst/>
          </a:prstGeom>
        </p:spPr>
      </p:pic>
      <p:sp>
        <p:nvSpPr>
          <p:cNvPr id="38" name="TextBox 2">
            <a:extLst>
              <a:ext uri="{FF2B5EF4-FFF2-40B4-BE49-F238E27FC236}">
                <a16:creationId xmlns:a16="http://schemas.microsoft.com/office/drawing/2014/main" id="{3F4AEC74-52C3-BE10-A091-AA0824A8CD34}"/>
              </a:ext>
            </a:extLst>
          </p:cNvPr>
          <p:cNvSpPr txBox="1"/>
          <p:nvPr/>
        </p:nvSpPr>
        <p:spPr>
          <a:xfrm>
            <a:off x="9018592" y="5484122"/>
            <a:ext cx="14636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 rtl="0">
              <a:defRPr sz="2000" b="1">
                <a:solidFill>
                  <a:srgbClr val="4B6B5A"/>
                </a:solidFill>
                <a:latin typeface="Aptos"/>
              </a:defRPr>
            </a:pPr>
            <a:r>
              <a:rPr sz="2000" b="1" dirty="0">
                <a:solidFill>
                  <a:srgbClr val="4B6B5A"/>
                </a:solidFill>
                <a:latin typeface="Aptos"/>
              </a:rPr>
              <a:t>ClavisFlow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70439C-73B6-3EC5-EA10-EF01EF63BE4E}"/>
              </a:ext>
            </a:extLst>
          </p:cNvPr>
          <p:cNvSpPr txBox="1"/>
          <p:nvPr/>
        </p:nvSpPr>
        <p:spPr>
          <a:xfrm>
            <a:off x="847725" y="5576455"/>
            <a:ext cx="7864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4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詳細な確認事項・改善候補については、別紙「システム診断結果詳細」をご参照ください。</a:t>
            </a:r>
            <a:endParaRPr lang="ja-JP" altLang="en-US" sz="14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369EE7-55B3-5F0F-84A5-EF794EC57CFC}"/>
              </a:ext>
            </a:extLst>
          </p:cNvPr>
          <p:cNvSpPr txBox="1"/>
          <p:nvPr/>
        </p:nvSpPr>
        <p:spPr>
          <a:xfrm>
            <a:off x="847725" y="4411761"/>
            <a:ext cx="99140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i="1" dirty="0" err="1"/>
              <a:t>ClavisFlow</a:t>
            </a:r>
            <a:r>
              <a:rPr lang="ja-JP" altLang="en-US" sz="1400" i="1" dirty="0"/>
              <a:t>は、長く使われてきたシステムの現状を整理し、</a:t>
            </a:r>
            <a:br>
              <a:rPr lang="ja-JP" altLang="en-US" sz="1400" i="1" dirty="0"/>
            </a:br>
            <a:r>
              <a:rPr lang="ja-JP" altLang="en-US" sz="1400" i="1" dirty="0"/>
              <a:t>保守・改修・モダナイゼーションに向けた判断材料を提供します。</a:t>
            </a:r>
            <a:endParaRPr lang="ja-JP" altLang="en-US" sz="1400" i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C169995E-F91E-7318-00C2-10787BEDAFD8}"/>
              </a:ext>
            </a:extLst>
          </p:cNvPr>
          <p:cNvCxnSpPr/>
          <p:nvPr/>
        </p:nvCxnSpPr>
        <p:spPr>
          <a:xfrm>
            <a:off x="850178" y="4256821"/>
            <a:ext cx="37680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0B340B1-E65B-6EF0-B683-0CEC446FA5C8}"/>
              </a:ext>
            </a:extLst>
          </p:cNvPr>
          <p:cNvCxnSpPr/>
          <p:nvPr/>
        </p:nvCxnSpPr>
        <p:spPr>
          <a:xfrm>
            <a:off x="850178" y="5072161"/>
            <a:ext cx="37680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6908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667</Words>
  <Application>Microsoft Office PowerPoint</Application>
  <DocSecurity>0</DocSecurity>
  <PresentationFormat>ワイド画面</PresentationFormat>
  <Paragraphs>172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</vt:lpstr>
      <vt:lpstr>Aptos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ClavisFlow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システム診断レポート</dc:title>
  <dc:creator>ClavisFlow</dc:creator>
  <dc:description>Generated by ClavisFlow</dc:description>
  <cp:lastModifiedBy>Yuma Nagashima</cp:lastModifiedBy>
  <cp:revision>124</cp:revision>
  <dcterms:created xsi:type="dcterms:W3CDTF">2026-07-05T15:11:48Z</dcterms:created>
  <dcterms:modified xsi:type="dcterms:W3CDTF">2026-07-06T06:43:54Z</dcterms:modified>
  <cp:version>2026.7.6.1</cp:version>
</cp:coreProperties>
</file>